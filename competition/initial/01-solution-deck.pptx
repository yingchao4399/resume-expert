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4FFDA"/>
                </a:solidFill>
                <a:latin typeface="Consolas"/>
                <a:ea typeface="Microsoft YaHei"/>
              </a:rPr>
              <a:t>01 · GOAI AGENT INFRA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24028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500" b="1">
                <a:solidFill>
                  <a:srgbClr val="E6F1FF"/>
                </a:solidFill>
                <a:latin typeface="Microsoft YaHei"/>
                <a:ea typeface="Microsoft YaHei"/>
              </a:rPr>
              <a:t>职途智策 AgentTeam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20040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8892B0"/>
                </a:solidFill>
                <a:latin typeface="Microsoft YaHei"/>
                <a:ea typeface="Microsoft YaHei"/>
              </a:rPr>
              <a:t>面向求职决策的可信多 Agent 协作系统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3886200"/>
            <a:ext cx="2194560" cy="36576"/>
          </a:xfrm>
          <a:prstGeom prst="rect">
            <a:avLst/>
          </a:prstGeom>
          <a:solidFill>
            <a:srgbClr val="64FF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420624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A7A9E"/>
                </a:solidFill>
                <a:latin typeface="Microsoft YaHei"/>
                <a:ea typeface="Microsoft YaHei"/>
              </a:rPr>
              <a:t>参赛者：张英超 · 个人参赛 · 初赛 V0.1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0292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64FFDA"/>
                </a:solidFill>
                <a:latin typeface="Consolas"/>
                <a:ea typeface="Microsoft YaHei"/>
              </a:rPr>
              <a:t>AgentTeams   Skill   可信门禁   可观测   可回放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828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64FFDA"/>
                </a:solidFill>
                <a:latin typeface="Consolas"/>
                <a:ea typeface="Microsoft YaHei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6576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1">
                <a:solidFill>
                  <a:srgbClr val="E6F1FF"/>
                </a:solidFill>
                <a:latin typeface="Microsoft YaHei"/>
                <a:ea typeface="Microsoft YaHei"/>
              </a:rPr>
              <a:t>  场景：可信求职决策是普遍且真实的问题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51560"/>
            <a:ext cx="1280160" cy="45720"/>
          </a:xfrm>
          <a:prstGeom prst="rect">
            <a:avLst/>
          </a:prstGeom>
          <a:solidFill>
            <a:srgbClr val="64FF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81360" y="41148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A7A9E"/>
                </a:solidFill>
                <a:latin typeface="Consolas"/>
                <a:ea typeface="Microsoft YaHei"/>
              </a:rPr>
              <a:t>02 / 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508760"/>
            <a:ext cx="5394960" cy="1234440"/>
          </a:xfrm>
          <a:prstGeom prst="roundRect">
            <a:avLst>
              <a:gd name="adj" fmla="val 8000"/>
            </a:avLst>
          </a:prstGeom>
          <a:solidFill>
            <a:srgbClr val="112240"/>
          </a:solidFill>
          <a:ln w="1524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" y="1591056"/>
            <a:ext cx="5102352" cy="1069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E6F1FF"/>
                </a:solidFill>
                <a:latin typeface="Microsoft YaHei"/>
                <a:ea typeface="Microsoft YaHei"/>
              </a:rPr>
              <a:t>核心问题</a:t>
            </a:r>
          </a:p>
          <a:p>
            <a:pPr>
              <a:spcBef>
                <a:spcPts val="300"/>
              </a:spcBef>
            </a:pPr>
            <a:r>
              <a:rPr sz="1050" b="0">
                <a:solidFill>
                  <a:srgbClr val="8892B0"/>
                </a:solidFill>
                <a:latin typeface="Microsoft YaHei"/>
                <a:ea typeface="Microsoft YaHei"/>
              </a:rPr>
              <a:t>求职者的难点不是“简历不好看”，而是把零散经历变成可验证事实再做可信决策。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508760"/>
            <a:ext cx="5394960" cy="1234440"/>
          </a:xfrm>
          <a:prstGeom prst="roundRect">
            <a:avLst>
              <a:gd name="adj" fmla="val 8000"/>
            </a:avLst>
          </a:prstGeom>
          <a:solidFill>
            <a:srgbClr val="112240"/>
          </a:solidFill>
          <a:ln w="1524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72784" y="1591056"/>
            <a:ext cx="5102352" cy="1069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E6F1FF"/>
                </a:solidFill>
                <a:latin typeface="Microsoft YaHei"/>
                <a:ea typeface="Microsoft YaHei"/>
              </a:rPr>
              <a:t>目标用户</a:t>
            </a:r>
          </a:p>
          <a:p>
            <a:pPr>
              <a:spcBef>
                <a:spcPts val="300"/>
              </a:spcBef>
            </a:pPr>
            <a:r>
              <a:rPr sz="1050" b="0">
                <a:solidFill>
                  <a:srgbClr val="8892B0"/>
                </a:solidFill>
                <a:latin typeface="Microsoft YaHei"/>
                <a:ea typeface="Microsoft YaHei"/>
              </a:rPr>
              <a:t>求职者（校招/社招）、求职辅导者。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971800"/>
            <a:ext cx="5394960" cy="1234440"/>
          </a:xfrm>
          <a:prstGeom prst="roundRect">
            <a:avLst>
              <a:gd name="adj" fmla="val 8000"/>
            </a:avLst>
          </a:prstGeom>
          <a:solidFill>
            <a:srgbClr val="112240"/>
          </a:solidFill>
          <a:ln w="1524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" y="3054096"/>
            <a:ext cx="5102352" cy="1069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E6F1FF"/>
                </a:solidFill>
                <a:latin typeface="Microsoft YaHei"/>
                <a:ea typeface="Microsoft YaHei"/>
              </a:rPr>
              <a:t>输入</a:t>
            </a:r>
          </a:p>
          <a:p>
            <a:pPr>
              <a:spcBef>
                <a:spcPts val="300"/>
              </a:spcBef>
            </a:pPr>
            <a:r>
              <a:rPr sz="1050" b="0">
                <a:solidFill>
                  <a:srgbClr val="8892B0"/>
                </a:solidFill>
                <a:latin typeface="Microsoft YaHei"/>
                <a:ea typeface="Microsoft YaHei"/>
              </a:rPr>
              <a:t>JD 原文 + 原始简历 + 项目化经历事实。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2971800"/>
            <a:ext cx="5394960" cy="1234440"/>
          </a:xfrm>
          <a:prstGeom prst="roundRect">
            <a:avLst>
              <a:gd name="adj" fmla="val 8000"/>
            </a:avLst>
          </a:prstGeom>
          <a:solidFill>
            <a:srgbClr val="112240"/>
          </a:solidFill>
          <a:ln w="1524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72784" y="3054096"/>
            <a:ext cx="5102352" cy="1069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E6F1FF"/>
                </a:solidFill>
                <a:latin typeface="Microsoft YaHei"/>
                <a:ea typeface="Microsoft YaHei"/>
              </a:rPr>
              <a:t>输出</a:t>
            </a:r>
          </a:p>
          <a:p>
            <a:pPr>
              <a:spcBef>
                <a:spcPts val="300"/>
              </a:spcBef>
            </a:pPr>
            <a:r>
              <a:rPr sz="1050" b="0">
                <a:solidFill>
                  <a:srgbClr val="8892B0"/>
                </a:solidFill>
                <a:latin typeface="Microsoft YaHei"/>
                <a:ea typeface="Microsoft YaHei"/>
              </a:rPr>
              <a:t>可信岗位准备度、定制优化简历、可审计投递交付。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4206240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64FFDA"/>
                </a:solidFill>
                <a:latin typeface="Microsoft YaHei"/>
                <a:ea typeface="Microsoft YaHei"/>
              </a:rPr>
              <a:t>行业可复制性：任何“材料 → 决策 → 交付”的高可信场景（晋升、留学、招标）。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800600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64FFDA"/>
                </a:solidFill>
                <a:latin typeface="Microsoft YaHei"/>
                <a:ea typeface="Microsoft YaHei"/>
              </a:rPr>
              <a:t>真实价值：减少误读与虚构，把主观美化变为可追溯、可复现的决策闭环。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828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64FFDA"/>
                </a:solidFill>
                <a:latin typeface="Consolas"/>
                <a:ea typeface="Microsoft YaHei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6576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1">
                <a:solidFill>
                  <a:srgbClr val="E6F1FF"/>
                </a:solidFill>
                <a:latin typeface="Microsoft YaHei"/>
                <a:ea typeface="Microsoft YaHei"/>
              </a:rPr>
              <a:t>  痛点：四个高频失真的来源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51560"/>
            <a:ext cx="1280160" cy="45720"/>
          </a:xfrm>
          <a:prstGeom prst="rect">
            <a:avLst/>
          </a:prstGeom>
          <a:solidFill>
            <a:srgbClr val="64FF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81360" y="41148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A7A9E"/>
                </a:solidFill>
                <a:latin typeface="Consolas"/>
                <a:ea typeface="Microsoft YaHei"/>
              </a:rPr>
              <a:t>03 / 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508760"/>
            <a:ext cx="5394960" cy="1234440"/>
          </a:xfrm>
          <a:prstGeom prst="roundRect">
            <a:avLst>
              <a:gd name="adj" fmla="val 8000"/>
            </a:avLst>
          </a:prstGeom>
          <a:solidFill>
            <a:srgbClr val="112240"/>
          </a:solidFill>
          <a:ln w="1524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" y="1591056"/>
            <a:ext cx="5102352" cy="1069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E6F1FF"/>
                </a:solidFill>
                <a:latin typeface="Microsoft YaHei"/>
                <a:ea typeface="Microsoft YaHei"/>
              </a:rPr>
              <a:t>JD 误读</a:t>
            </a:r>
          </a:p>
          <a:p>
            <a:pPr>
              <a:spcBef>
                <a:spcPts val="300"/>
              </a:spcBef>
            </a:pPr>
            <a:r>
              <a:rPr sz="1050" b="0">
                <a:solidFill>
                  <a:srgbClr val="8892B0"/>
                </a:solidFill>
                <a:latin typeface="Microsoft YaHei"/>
                <a:ea typeface="Microsoft YaHei"/>
              </a:rPr>
              <a:t>关键词堆砌、漏读优先级与否定条件，把推断当要求。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508760"/>
            <a:ext cx="5394960" cy="1234440"/>
          </a:xfrm>
          <a:prstGeom prst="roundRect">
            <a:avLst>
              <a:gd name="adj" fmla="val 8000"/>
            </a:avLst>
          </a:prstGeom>
          <a:solidFill>
            <a:srgbClr val="112240"/>
          </a:solidFill>
          <a:ln w="1524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72784" y="1591056"/>
            <a:ext cx="5102352" cy="1069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E6F1FF"/>
                </a:solidFill>
                <a:latin typeface="Microsoft YaHei"/>
                <a:ea typeface="Microsoft YaHei"/>
              </a:rPr>
              <a:t>经历虚构</a:t>
            </a:r>
          </a:p>
          <a:p>
            <a:pPr>
              <a:spcBef>
                <a:spcPts val="300"/>
              </a:spcBef>
            </a:pPr>
            <a:r>
              <a:rPr sz="1050" b="0">
                <a:solidFill>
                  <a:srgbClr val="8892B0"/>
                </a:solidFill>
                <a:latin typeface="Microsoft YaHei"/>
                <a:ea typeface="Microsoft YaHei"/>
              </a:rPr>
              <a:t>AI 改写无依据、成果无法溯源，量化数字随口编。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971800"/>
            <a:ext cx="5394960" cy="1234440"/>
          </a:xfrm>
          <a:prstGeom prst="roundRect">
            <a:avLst>
              <a:gd name="adj" fmla="val 8000"/>
            </a:avLst>
          </a:prstGeom>
          <a:solidFill>
            <a:srgbClr val="112240"/>
          </a:solidFill>
          <a:ln w="1524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" y="3054096"/>
            <a:ext cx="5102352" cy="1069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E6F1FF"/>
                </a:solidFill>
                <a:latin typeface="Microsoft YaHei"/>
                <a:ea typeface="Microsoft YaHei"/>
              </a:rPr>
              <a:t>版本混乱</a:t>
            </a:r>
          </a:p>
          <a:p>
            <a:pPr>
              <a:spcBef>
                <a:spcPts val="300"/>
              </a:spcBef>
            </a:pPr>
            <a:r>
              <a:rPr sz="1050" b="0">
                <a:solidFill>
                  <a:srgbClr val="8892B0"/>
                </a:solidFill>
                <a:latin typeface="Microsoft YaHei"/>
                <a:ea typeface="Microsoft YaHei"/>
              </a:rPr>
              <a:t>多岗位版本交叉污染，新旧材料混用，导出旧结果。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2971800"/>
            <a:ext cx="5394960" cy="1234440"/>
          </a:xfrm>
          <a:prstGeom prst="roundRect">
            <a:avLst>
              <a:gd name="adj" fmla="val 8000"/>
            </a:avLst>
          </a:prstGeom>
          <a:solidFill>
            <a:srgbClr val="112240"/>
          </a:solidFill>
          <a:ln w="1524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72784" y="3054096"/>
            <a:ext cx="5102352" cy="1069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E6F1FF"/>
                </a:solidFill>
                <a:latin typeface="Microsoft YaHei"/>
                <a:ea typeface="Microsoft YaHei"/>
              </a:rPr>
              <a:t>结果不可审计</a:t>
            </a:r>
          </a:p>
          <a:p>
            <a:pPr>
              <a:spcBef>
                <a:spcPts val="300"/>
              </a:spcBef>
            </a:pPr>
            <a:r>
              <a:rPr sz="1050" b="0">
                <a:solidFill>
                  <a:srgbClr val="8892B0"/>
                </a:solidFill>
                <a:latin typeface="Microsoft YaHei"/>
                <a:ea typeface="Microsoft YaHei"/>
              </a:rPr>
              <a:t>评分靠模型自报，无法回放、无法复核。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828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64FFDA"/>
                </a:solidFill>
                <a:latin typeface="Consolas"/>
                <a:ea typeface="Microsoft YaHei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6576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1">
                <a:solidFill>
                  <a:srgbClr val="E6F1FF"/>
                </a:solidFill>
                <a:latin typeface="Microsoft YaHei"/>
                <a:ea typeface="Microsoft YaHei"/>
              </a:rPr>
              <a:t>  方案总览：从材料到交付的可信闭环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51560"/>
            <a:ext cx="1280160" cy="45720"/>
          </a:xfrm>
          <a:prstGeom prst="rect">
            <a:avLst/>
          </a:prstGeom>
          <a:solidFill>
            <a:srgbClr val="64FF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81360" y="41148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A7A9E"/>
                </a:solidFill>
                <a:latin typeface="Consolas"/>
                <a:ea typeface="Microsoft YaHei"/>
              </a:rPr>
              <a:t>04 / 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41167" y="2103120"/>
            <a:ext cx="1371600" cy="822960"/>
          </a:xfrm>
          <a:prstGeom prst="roundRect">
            <a:avLst>
              <a:gd name="adj" fmla="val 8000"/>
            </a:avLst>
          </a:prstGeom>
          <a:solidFill>
            <a:srgbClr val="112240"/>
          </a:solidFill>
          <a:ln w="15240">
            <a:solidFill>
              <a:srgbClr val="3F6F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>
                <a:solidFill>
                  <a:srgbClr val="E6F1FF"/>
                </a:solidFill>
                <a:latin typeface="Microsoft YaHei"/>
                <a:ea typeface="Microsoft YaHei"/>
              </a:rPr>
              <a:t>材料</a:t>
            </a:r>
          </a:p>
          <a:p>
            <a:pPr algn="ctr"/>
            <a:r>
              <a:rPr sz="800" b="0">
                <a:solidFill>
                  <a:srgbClr val="5A7A9E"/>
                </a:solidFill>
                <a:latin typeface="Microsoft YaHei"/>
                <a:ea typeface="Microsoft YaHei"/>
              </a:rPr>
              <a:t>岗位/JD/简历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12767" y="2331720"/>
            <a:ext cx="2743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64FFDA"/>
                </a:solidFill>
                <a:latin typeface="Microsoft YaHei"/>
                <a:ea typeface="Microsoft YaHei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87087" y="2103120"/>
            <a:ext cx="1371600" cy="822960"/>
          </a:xfrm>
          <a:prstGeom prst="roundRect">
            <a:avLst>
              <a:gd name="adj" fmla="val 8000"/>
            </a:avLst>
          </a:prstGeom>
          <a:solidFill>
            <a:srgbClr val="112240"/>
          </a:solidFill>
          <a:ln w="15240">
            <a:solidFill>
              <a:srgbClr val="3F6F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>
                <a:solidFill>
                  <a:srgbClr val="E6F1FF"/>
                </a:solidFill>
                <a:latin typeface="Microsoft YaHei"/>
                <a:ea typeface="Microsoft YaHei"/>
              </a:rPr>
              <a:t>分析</a:t>
            </a:r>
          </a:p>
          <a:p>
            <a:pPr algn="ctr"/>
            <a:r>
              <a:rPr sz="800" b="0">
                <a:solidFill>
                  <a:srgbClr val="5A7A9E"/>
                </a:solidFill>
                <a:latin typeface="Microsoft YaHei"/>
                <a:ea typeface="Microsoft YaHei"/>
              </a:rPr>
              <a:t>决策地图·匹配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58687" y="2331720"/>
            <a:ext cx="2743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64FFDA"/>
                </a:solidFill>
                <a:latin typeface="Microsoft YaHei"/>
                <a:ea typeface="Microsoft YaHei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3007" y="2103120"/>
            <a:ext cx="1371600" cy="822960"/>
          </a:xfrm>
          <a:prstGeom prst="roundRect">
            <a:avLst>
              <a:gd name="adj" fmla="val 8000"/>
            </a:avLst>
          </a:prstGeom>
          <a:solidFill>
            <a:srgbClr val="112240"/>
          </a:solidFill>
          <a:ln w="15240">
            <a:solidFill>
              <a:srgbClr val="3F6F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>
                <a:solidFill>
                  <a:srgbClr val="E6F1FF"/>
                </a:solidFill>
                <a:latin typeface="Microsoft YaHei"/>
                <a:ea typeface="Microsoft YaHei"/>
              </a:rPr>
              <a:t>制作</a:t>
            </a:r>
          </a:p>
          <a:p>
            <a:pPr algn="ctr"/>
            <a:r>
              <a:rPr sz="800" b="0">
                <a:solidFill>
                  <a:srgbClr val="5A7A9E"/>
                </a:solidFill>
                <a:latin typeface="Microsoft YaHei"/>
                <a:ea typeface="Microsoft YaHei"/>
              </a:rPr>
              <a:t>优化+草稿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04607" y="2331720"/>
            <a:ext cx="2743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64FFDA"/>
                </a:solidFill>
                <a:latin typeface="Microsoft YaHei"/>
                <a:ea typeface="Microsoft YaHei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78927" y="2103120"/>
            <a:ext cx="1371600" cy="822960"/>
          </a:xfrm>
          <a:prstGeom prst="roundRect">
            <a:avLst>
              <a:gd name="adj" fmla="val 8000"/>
            </a:avLst>
          </a:prstGeom>
          <a:solidFill>
            <a:srgbClr val="112240"/>
          </a:solidFill>
          <a:ln w="15240">
            <a:solidFill>
              <a:srgbClr val="3F6F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>
                <a:solidFill>
                  <a:srgbClr val="E6F1FF"/>
                </a:solidFill>
                <a:latin typeface="Microsoft YaHei"/>
                <a:ea typeface="Microsoft YaHei"/>
              </a:rPr>
              <a:t>交付</a:t>
            </a:r>
          </a:p>
          <a:p>
            <a:pPr algn="ctr"/>
            <a:r>
              <a:rPr sz="800" b="0">
                <a:solidFill>
                  <a:srgbClr val="5A7A9E"/>
                </a:solidFill>
                <a:latin typeface="Microsoft YaHei"/>
                <a:ea typeface="Microsoft YaHei"/>
              </a:rPr>
              <a:t>ATS门禁+导出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474720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C864"/>
                </a:solidFill>
                <a:latin typeface="Microsoft YaHei"/>
                <a:ea typeface="Microsoft YaHei"/>
              </a:rPr>
              <a:t>识别到 ≠ 可信：需求、事实、优化项、最终简历都有确认门禁。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20624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8892B0"/>
                </a:solidFill>
                <a:latin typeface="Microsoft YaHei"/>
                <a:ea typeface="Microsoft YaHei"/>
              </a:rPr>
              <a:t>●  事实库带原文引用与确认状态，全程可追溯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70916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8892B0"/>
                </a:solidFill>
                <a:latin typeface="Microsoft YaHei"/>
                <a:ea typeface="Microsoft YaHei"/>
              </a:rPr>
              <a:t>●  面试策略为辅助流程，不阻塞简历交付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828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64FFDA"/>
                </a:solidFill>
                <a:latin typeface="Consolas"/>
                <a:ea typeface="Microsoft YaHei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6576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1">
                <a:solidFill>
                  <a:srgbClr val="E6F1FF"/>
                </a:solidFill>
                <a:latin typeface="Microsoft YaHei"/>
                <a:ea typeface="Microsoft YaHei"/>
              </a:rPr>
              <a:t>  AgentTeams 架构：分层 + 主控路由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51560"/>
            <a:ext cx="1280160" cy="45720"/>
          </a:xfrm>
          <a:prstGeom prst="rect">
            <a:avLst/>
          </a:prstGeom>
          <a:solidFill>
            <a:srgbClr val="64FF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81360" y="41148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A7A9E"/>
                </a:solidFill>
                <a:latin typeface="Consolas"/>
                <a:ea typeface="Microsoft YaHei"/>
              </a:rPr>
              <a:t>05 / 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508760"/>
            <a:ext cx="11155680" cy="713232"/>
          </a:xfrm>
          <a:prstGeom prst="roundRect">
            <a:avLst>
              <a:gd name="adj" fmla="val 8000"/>
            </a:avLst>
          </a:prstGeom>
          <a:solidFill>
            <a:srgbClr val="1F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/>
          <a:lstStyle/>
          <a:p>
            <a:pPr algn="ctr"/>
            <a:r>
              <a:rPr sz="1250" b="1">
                <a:solidFill>
                  <a:srgbClr val="E6F1FF"/>
                </a:solidFill>
                <a:latin typeface="Microsoft YaHei"/>
                <a:ea typeface="Microsoft YaHei"/>
              </a:rPr>
              <a:t>入口层  </a:t>
            </a:r>
            <a:r>
              <a:rPr sz="1000" b="0">
                <a:solidFill>
                  <a:srgbClr val="A8B2D1"/>
                </a:solidFill>
                <a:latin typeface="Microsoft YaHei"/>
                <a:ea typeface="Microsoft YaHei"/>
              </a:rPr>
              <a:t>岗位 / JD / 简历 / 证据 / 导出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313432"/>
            <a:ext cx="11155680" cy="713232"/>
          </a:xfrm>
          <a:prstGeom prst="roundRect">
            <a:avLst>
              <a:gd name="adj" fmla="val 8000"/>
            </a:avLst>
          </a:prstGeom>
          <a:solidFill>
            <a:srgbClr val="1C4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/>
          <a:lstStyle/>
          <a:p>
            <a:pPr algn="ctr"/>
            <a:r>
              <a:rPr sz="1250" b="1">
                <a:solidFill>
                  <a:srgbClr val="E6F1FF"/>
                </a:solidFill>
                <a:latin typeface="Microsoft YaHei"/>
                <a:ea typeface="Microsoft YaHei"/>
              </a:rPr>
              <a:t>AgentTeams 编排层  </a:t>
            </a:r>
            <a:r>
              <a:rPr sz="1000" b="0">
                <a:solidFill>
                  <a:srgbClr val="A8B2D1"/>
                </a:solidFill>
                <a:latin typeface="Microsoft YaHei"/>
                <a:ea typeface="Microsoft YaHei"/>
              </a:rPr>
              <a:t>主控：任务拆解 · 阶段路由 · 上下文编排 · 状态追踪 · 升级决策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3118104"/>
            <a:ext cx="11155680" cy="713232"/>
          </a:xfrm>
          <a:prstGeom prst="roundRect">
            <a:avLst>
              <a:gd name="adj" fmla="val 8000"/>
            </a:avLst>
          </a:prstGeom>
          <a:solidFill>
            <a:srgbClr val="3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/>
          <a:lstStyle/>
          <a:p>
            <a:pPr algn="ctr"/>
            <a:r>
              <a:rPr sz="1250" b="1">
                <a:solidFill>
                  <a:srgbClr val="E6F1FF"/>
                </a:solidFill>
                <a:latin typeface="Microsoft YaHei"/>
                <a:ea typeface="Microsoft YaHei"/>
              </a:rPr>
              <a:t>多 Agent 层  </a:t>
            </a:r>
            <a:r>
              <a:rPr sz="1000" b="0">
                <a:solidFill>
                  <a:srgbClr val="A8B2D1"/>
                </a:solidFill>
                <a:latin typeface="Microsoft YaHei"/>
                <a:ea typeface="Microsoft YaHei"/>
              </a:rPr>
              <a:t>JobRequirementAnalyst · EvidenceCurator · ResumeStrategist · QualityDeliveryGuardian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3922776"/>
            <a:ext cx="11155680" cy="713232"/>
          </a:xfrm>
          <a:prstGeom prst="roundRect">
            <a:avLst>
              <a:gd name="adj" fmla="val 8000"/>
            </a:avLst>
          </a:prstGeom>
          <a:solidFill>
            <a:srgbClr val="164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/>
          <a:lstStyle/>
          <a:p>
            <a:pPr algn="ctr"/>
            <a:r>
              <a:rPr sz="1250" b="1">
                <a:solidFill>
                  <a:srgbClr val="E6F1FF"/>
                </a:solidFill>
                <a:latin typeface="Microsoft YaHei"/>
                <a:ea typeface="Microsoft YaHei"/>
              </a:rPr>
              <a:t>Skill 能力层  </a:t>
            </a:r>
            <a:r>
              <a:rPr sz="1000" b="0">
                <a:solidFill>
                  <a:srgbClr val="A8B2D1"/>
                </a:solidFill>
                <a:latin typeface="Microsoft YaHei"/>
                <a:ea typeface="Microsoft YaHei"/>
              </a:rPr>
              <a:t>材料校验 · JD 决策地图 · 事实检索 · 补证 · 可信改写 · 交付门禁 · Trace · 评测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4727448"/>
            <a:ext cx="11155680" cy="713232"/>
          </a:xfrm>
          <a:prstGeom prst="roundRect">
            <a:avLst>
              <a:gd name="adj" fmla="val 8000"/>
            </a:avLst>
          </a:prstGeom>
          <a:solidFill>
            <a:srgbClr val="2A3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/>
          <a:lstStyle/>
          <a:p>
            <a:pPr algn="ctr"/>
            <a:r>
              <a:rPr sz="1250" b="1">
                <a:solidFill>
                  <a:srgbClr val="E6F1FF"/>
                </a:solidFill>
                <a:latin typeface="Microsoft YaHei"/>
                <a:ea typeface="Microsoft YaHei"/>
              </a:rPr>
              <a:t>连接器契约层  </a:t>
            </a:r>
            <a:r>
              <a:rPr sz="1000" b="0">
                <a:solidFill>
                  <a:srgbClr val="A8B2D1"/>
                </a:solidFill>
                <a:latin typeface="Microsoft YaHei"/>
                <a:ea typeface="Microsoft YaHei"/>
              </a:rPr>
              <a:t>DirectLLM / Mock / 导入解析 / 导出（MCP 等价契约）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5532120"/>
            <a:ext cx="11155680" cy="713232"/>
          </a:xfrm>
          <a:prstGeom prst="roundRect">
            <a:avLst>
              <a:gd name="adj" fmla="val 8000"/>
            </a:avLst>
          </a:prstGeom>
          <a:solidFill>
            <a:srgbClr val="2029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/>
          <a:lstStyle/>
          <a:p>
            <a:pPr algn="ctr"/>
            <a:r>
              <a:rPr sz="1250" b="1">
                <a:solidFill>
                  <a:srgbClr val="E6F1FF"/>
                </a:solidFill>
                <a:latin typeface="Microsoft YaHei"/>
                <a:ea typeface="Microsoft YaHei"/>
              </a:rPr>
              <a:t>证据治理层  </a:t>
            </a:r>
            <a:r>
              <a:rPr sz="1000" b="0">
                <a:solidFill>
                  <a:srgbClr val="A8B2D1"/>
                </a:solidFill>
                <a:latin typeface="Microsoft YaHei"/>
                <a:ea typeface="Microsoft YaHei"/>
              </a:rPr>
              <a:t>共享状态 + Studio Trace + Zod 校验 + 评测集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828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64FFDA"/>
                </a:solidFill>
                <a:latin typeface="Consolas"/>
                <a:ea typeface="Microsoft YaHei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6576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1">
                <a:solidFill>
                  <a:srgbClr val="E6F1FF"/>
                </a:solidFill>
                <a:latin typeface="Microsoft YaHei"/>
                <a:ea typeface="Microsoft YaHei"/>
              </a:rPr>
              <a:t>  完整任务链路：一条可追溯闭环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51560"/>
            <a:ext cx="1280160" cy="45720"/>
          </a:xfrm>
          <a:prstGeom prst="rect">
            <a:avLst/>
          </a:prstGeom>
          <a:solidFill>
            <a:srgbClr val="64FF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81360" y="41148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A7A9E"/>
                </a:solidFill>
                <a:latin typeface="Consolas"/>
                <a:ea typeface="Microsoft YaHei"/>
              </a:rPr>
              <a:t>06 / 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16355" y="1920240"/>
            <a:ext cx="1325880" cy="822960"/>
          </a:xfrm>
          <a:prstGeom prst="roundRect">
            <a:avLst>
              <a:gd name="adj" fmla="val 8000"/>
            </a:avLst>
          </a:prstGeom>
          <a:solidFill>
            <a:srgbClr val="112240"/>
          </a:solidFill>
          <a:ln w="15240">
            <a:solidFill>
              <a:srgbClr val="3F6F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>
                <a:solidFill>
                  <a:srgbClr val="E6F1FF"/>
                </a:solidFill>
                <a:latin typeface="Microsoft YaHei"/>
                <a:ea typeface="Microsoft YaHei"/>
              </a:rPr>
              <a:t>JD 解析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42235" y="2148840"/>
            <a:ext cx="14630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64FFDA"/>
                </a:solidFill>
                <a:latin typeface="Microsoft YaHei"/>
                <a:ea typeface="Microsoft YaHei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488539" y="1920240"/>
            <a:ext cx="1325880" cy="822960"/>
          </a:xfrm>
          <a:prstGeom prst="roundRect">
            <a:avLst>
              <a:gd name="adj" fmla="val 8000"/>
            </a:avLst>
          </a:prstGeom>
          <a:solidFill>
            <a:srgbClr val="112240"/>
          </a:solidFill>
          <a:ln w="15240">
            <a:solidFill>
              <a:srgbClr val="3F6F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>
                <a:solidFill>
                  <a:srgbClr val="E6F1FF"/>
                </a:solidFill>
                <a:latin typeface="Microsoft YaHei"/>
                <a:ea typeface="Microsoft YaHei"/>
              </a:rPr>
              <a:t>确认需求地图</a:t>
            </a:r>
          </a:p>
          <a:p>
            <a:pPr algn="ctr"/>
            <a:r>
              <a:rPr sz="800" b="0">
                <a:solidFill>
                  <a:srgbClr val="5A7A9E"/>
                </a:solidFill>
                <a:latin typeface="Microsoft YaHei"/>
                <a:ea typeface="Microsoft YaHei"/>
              </a:rPr>
              <a:t>人工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14419" y="2148840"/>
            <a:ext cx="14630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64FFDA"/>
                </a:solidFill>
                <a:latin typeface="Microsoft YaHei"/>
                <a:ea typeface="Microsoft YaHei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960723" y="1920240"/>
            <a:ext cx="1325880" cy="822960"/>
          </a:xfrm>
          <a:prstGeom prst="roundRect">
            <a:avLst>
              <a:gd name="adj" fmla="val 8000"/>
            </a:avLst>
          </a:prstGeom>
          <a:solidFill>
            <a:srgbClr val="112240"/>
          </a:solidFill>
          <a:ln w="15240">
            <a:solidFill>
              <a:srgbClr val="3F6F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>
                <a:solidFill>
                  <a:srgbClr val="E6F1FF"/>
                </a:solidFill>
                <a:latin typeface="Microsoft YaHei"/>
                <a:ea typeface="Microsoft YaHei"/>
              </a:rPr>
              <a:t>事实匹配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86603" y="2148840"/>
            <a:ext cx="14630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64FFDA"/>
                </a:solidFill>
                <a:latin typeface="Microsoft YaHei"/>
                <a:ea typeface="Microsoft YaHei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32907" y="1920240"/>
            <a:ext cx="1325880" cy="822960"/>
          </a:xfrm>
          <a:prstGeom prst="roundRect">
            <a:avLst>
              <a:gd name="adj" fmla="val 8000"/>
            </a:avLst>
          </a:prstGeom>
          <a:solidFill>
            <a:srgbClr val="112240"/>
          </a:solidFill>
          <a:ln w="15240">
            <a:solidFill>
              <a:srgbClr val="3F6F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>
                <a:solidFill>
                  <a:srgbClr val="E6F1FF"/>
                </a:solidFill>
                <a:latin typeface="Microsoft YaHei"/>
                <a:ea typeface="Microsoft YaHei"/>
              </a:rPr>
              <a:t>准备度/缺口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58787" y="2148840"/>
            <a:ext cx="14630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64FFDA"/>
                </a:solidFill>
                <a:latin typeface="Microsoft YaHei"/>
                <a:ea typeface="Microsoft YaHei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905091" y="1920240"/>
            <a:ext cx="1325880" cy="822960"/>
          </a:xfrm>
          <a:prstGeom prst="roundRect">
            <a:avLst>
              <a:gd name="adj" fmla="val 8000"/>
            </a:avLst>
          </a:prstGeom>
          <a:solidFill>
            <a:srgbClr val="112240"/>
          </a:solidFill>
          <a:ln w="15240">
            <a:solidFill>
              <a:srgbClr val="3F6F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>
                <a:solidFill>
                  <a:srgbClr val="E6F1FF"/>
                </a:solidFill>
                <a:latin typeface="Microsoft YaHei"/>
                <a:ea typeface="Microsoft YaHei"/>
              </a:rPr>
              <a:t>定向补证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30971" y="2148840"/>
            <a:ext cx="14630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64FFDA"/>
                </a:solidFill>
                <a:latin typeface="Microsoft YaHei"/>
                <a:ea typeface="Microsoft YaHei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77275" y="1920240"/>
            <a:ext cx="1325880" cy="822960"/>
          </a:xfrm>
          <a:prstGeom prst="roundRect">
            <a:avLst>
              <a:gd name="adj" fmla="val 8000"/>
            </a:avLst>
          </a:prstGeom>
          <a:solidFill>
            <a:srgbClr val="112240"/>
          </a:solidFill>
          <a:ln w="15240">
            <a:solidFill>
              <a:srgbClr val="3F6F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>
                <a:solidFill>
                  <a:srgbClr val="E6F1FF"/>
                </a:solidFill>
                <a:latin typeface="Microsoft YaHei"/>
                <a:ea typeface="Microsoft YaHei"/>
              </a:rPr>
              <a:t>优化制作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03155" y="2148840"/>
            <a:ext cx="14630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64FFDA"/>
                </a:solidFill>
                <a:latin typeface="Microsoft YaHei"/>
                <a:ea typeface="Microsoft YaHei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849459" y="1920240"/>
            <a:ext cx="1325880" cy="822960"/>
          </a:xfrm>
          <a:prstGeom prst="roundRect">
            <a:avLst>
              <a:gd name="adj" fmla="val 8000"/>
            </a:avLst>
          </a:prstGeom>
          <a:solidFill>
            <a:srgbClr val="112240"/>
          </a:solidFill>
          <a:ln w="15240">
            <a:solidFill>
              <a:srgbClr val="3F6F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>
                <a:solidFill>
                  <a:srgbClr val="E6F1FF"/>
                </a:solidFill>
                <a:latin typeface="Microsoft YaHei"/>
                <a:ea typeface="Microsoft YaHei"/>
              </a:rPr>
              <a:t>交付导出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3566160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FFC864"/>
                </a:solidFill>
                <a:latin typeface="Microsoft YaHei"/>
                <a:ea typeface="Microsoft YaHei"/>
              </a:rPr>
              <a:t>缺口 → 补证 → 重匹配 构成回流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16052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8892B0"/>
                </a:solidFill>
                <a:latin typeface="Microsoft YaHei"/>
                <a:ea typeface="Microsoft YaHei"/>
              </a:rPr>
              <a:t>●  依赖变化 → 结果置为过期，禁止导出旧结果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466344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8892B0"/>
                </a:solidFill>
                <a:latin typeface="Microsoft YaHei"/>
                <a:ea typeface="Microsoft YaHei"/>
              </a:rPr>
              <a:t>●  上下文传递：requirementId · claimId · traceId 贯穿引用链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828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64FFDA"/>
                </a:solidFill>
                <a:latin typeface="Consolas"/>
                <a:ea typeface="Microsoft YaHei"/>
              </a:rP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6576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1">
                <a:solidFill>
                  <a:srgbClr val="E6F1FF"/>
                </a:solidFill>
                <a:latin typeface="Microsoft YaHei"/>
                <a:ea typeface="Microsoft YaHei"/>
              </a:rPr>
              <a:t>  Agent 身份与协作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51560"/>
            <a:ext cx="1280160" cy="4572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81360" y="41148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A7A9E"/>
                </a:solidFill>
                <a:latin typeface="Consolas"/>
                <a:ea typeface="Microsoft YaHei"/>
              </a:rPr>
              <a:t>07 / 13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554480"/>
            <a:ext cx="11155680" cy="457200"/>
          </a:xfrm>
          <a:prstGeom prst="rect">
            <a:avLst/>
          </a:prstGeom>
          <a:solidFill>
            <a:srgbClr val="0F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627632"/>
            <a:ext cx="2926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E6F1FF"/>
                </a:solidFill>
                <a:latin typeface="Microsoft YaHei"/>
                <a:ea typeface="Microsoft YaHei"/>
              </a:rPr>
              <a:t>Agent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1627632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E6F1FF"/>
                </a:solidFill>
                <a:latin typeface="Microsoft YaHei"/>
                <a:ea typeface="Microsoft YaHei"/>
              </a:rPr>
              <a:t>职责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1627632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E6F1FF"/>
                </a:solidFill>
                <a:latin typeface="Microsoft YaHei"/>
                <a:ea typeface="Microsoft YaHei"/>
              </a:rPr>
              <a:t>关键边界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340864"/>
            <a:ext cx="2926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4FFDA"/>
                </a:solidFill>
                <a:latin typeface="Consolas"/>
                <a:ea typeface="Microsoft YaHei"/>
              </a:rPr>
              <a:t>JobRequirementAnalyst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2340864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8892B0"/>
                </a:solidFill>
                <a:latin typeface="Microsoft YaHei"/>
                <a:ea typeface="Microsoft YaHei"/>
              </a:rPr>
              <a:t>JD → 带原文锚点的需求地图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340864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FFC864"/>
                </a:solidFill>
                <a:latin typeface="Microsoft YaHei"/>
                <a:ea typeface="Microsoft YaHei"/>
              </a:rPr>
              <a:t>产出为候选，须人工确认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054096"/>
            <a:ext cx="2926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4FFDA"/>
                </a:solidFill>
                <a:latin typeface="Consolas"/>
                <a:ea typeface="Microsoft YaHei"/>
              </a:rPr>
              <a:t>EvidenceCurator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3054096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8892B0"/>
                </a:solidFill>
                <a:latin typeface="Microsoft YaHei"/>
                <a:ea typeface="Microsoft YaHei"/>
              </a:rPr>
              <a:t>事实检索 / 筛选 / 补证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3054096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FFC864"/>
                </a:solidFill>
                <a:latin typeface="Microsoft YaHei"/>
                <a:ea typeface="Microsoft YaHei"/>
              </a:rPr>
              <a:t>事实须逐条人工确认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767328"/>
            <a:ext cx="2926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4FFDA"/>
                </a:solidFill>
                <a:latin typeface="Consolas"/>
                <a:ea typeface="Microsoft YaHei"/>
              </a:rPr>
              <a:t>ResumeStrategist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3767328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8892B0"/>
                </a:solidFill>
                <a:latin typeface="Microsoft YaHei"/>
                <a:ea typeface="Microsoft YaHei"/>
              </a:rPr>
              <a:t>仅基于已确认事实生成优化与草稿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3767328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FFC864"/>
                </a:solidFill>
                <a:latin typeface="Microsoft YaHei"/>
                <a:ea typeface="Microsoft YaHei"/>
              </a:rPr>
              <a:t>不引入未确认成果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480560"/>
            <a:ext cx="2926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4FFDA"/>
                </a:solidFill>
                <a:latin typeface="Consolas"/>
                <a:ea typeface="Microsoft YaHei"/>
              </a:rPr>
              <a:t>QualityDeliveryGuardian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4480560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8892B0"/>
                </a:solidFill>
                <a:latin typeface="Microsoft YaHei"/>
                <a:ea typeface="Microsoft YaHei"/>
              </a:rPr>
              <a:t>Schema/引用/过期/ATS/导出门禁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4480560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FFC864"/>
                </a:solidFill>
                <a:latin typeface="Microsoft YaHei"/>
                <a:ea typeface="Microsoft YaHei"/>
              </a:rPr>
              <a:t>仅已确认且非过期可导出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5715000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A7A9E"/>
                </a:solidFill>
                <a:latin typeface="Microsoft YaHei"/>
                <a:ea typeface="Microsoft YaHei"/>
              </a:rPr>
              <a:t>主控只做路由与编排，不直接写简历/事实/导出；高风险写入与最终导出上抛人工确认。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828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64FFDA"/>
                </a:solidFill>
                <a:latin typeface="Consolas"/>
                <a:ea typeface="Microsoft YaHei"/>
              </a:rP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6576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1">
                <a:solidFill>
                  <a:srgbClr val="E6F1FF"/>
                </a:solidFill>
                <a:latin typeface="Microsoft YaHei"/>
                <a:ea typeface="Microsoft YaHei"/>
              </a:rPr>
              <a:t>  Skill 体系：能力抽象层（必选项）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51560"/>
            <a:ext cx="1280160" cy="45720"/>
          </a:xfrm>
          <a:prstGeom prst="rect">
            <a:avLst/>
          </a:prstGeom>
          <a:solidFill>
            <a:srgbClr val="64FF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81360" y="41148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A7A9E"/>
                </a:solidFill>
                <a:latin typeface="Consolas"/>
                <a:ea typeface="Microsoft YaHei"/>
              </a:rPr>
              <a:t>08 / 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508760"/>
            <a:ext cx="5394960" cy="1234440"/>
          </a:xfrm>
          <a:prstGeom prst="roundRect">
            <a:avLst>
              <a:gd name="adj" fmla="val 8000"/>
            </a:avLst>
          </a:prstGeom>
          <a:solidFill>
            <a:srgbClr val="112240"/>
          </a:solidFill>
          <a:ln w="1524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" y="1591056"/>
            <a:ext cx="5102352" cy="1069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E6F1FF"/>
                </a:solidFill>
                <a:latin typeface="Microsoft YaHei"/>
                <a:ea typeface="Microsoft YaHei"/>
              </a:rPr>
              <a:t>material-validation</a:t>
            </a:r>
          </a:p>
          <a:p>
            <a:pPr>
              <a:spcBef>
                <a:spcPts val="300"/>
              </a:spcBef>
            </a:pPr>
            <a:r>
              <a:rPr sz="1050" b="0">
                <a:solidFill>
                  <a:srgbClr val="8892B0"/>
                </a:solidFill>
                <a:latin typeface="Microsoft YaHei"/>
                <a:ea typeface="Microsoft YaHei"/>
              </a:rPr>
              <a:t>材料校验 → 主控前置门禁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508760"/>
            <a:ext cx="5394960" cy="1234440"/>
          </a:xfrm>
          <a:prstGeom prst="roundRect">
            <a:avLst>
              <a:gd name="adj" fmla="val 8000"/>
            </a:avLst>
          </a:prstGeom>
          <a:solidFill>
            <a:srgbClr val="112240"/>
          </a:solidFill>
          <a:ln w="1524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72784" y="1591056"/>
            <a:ext cx="5102352" cy="1069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E6F1FF"/>
                </a:solidFill>
                <a:latin typeface="Microsoft YaHei"/>
                <a:ea typeface="Microsoft YaHei"/>
              </a:rPr>
              <a:t>jd-decision-map</a:t>
            </a:r>
          </a:p>
          <a:p>
            <a:pPr>
              <a:spcBef>
                <a:spcPts val="300"/>
              </a:spcBef>
            </a:pPr>
            <a:r>
              <a:rPr sz="1050" b="0">
                <a:solidFill>
                  <a:srgbClr val="8892B0"/>
                </a:solidFill>
                <a:latin typeface="Microsoft YaHei"/>
                <a:ea typeface="Microsoft YaHei"/>
              </a:rPr>
              <a:t>JD 决策地图 → 需求分析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971800"/>
            <a:ext cx="5394960" cy="1234440"/>
          </a:xfrm>
          <a:prstGeom prst="roundRect">
            <a:avLst>
              <a:gd name="adj" fmla="val 8000"/>
            </a:avLst>
          </a:prstGeom>
          <a:solidFill>
            <a:srgbClr val="112240"/>
          </a:solidFill>
          <a:ln w="1524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" y="3054096"/>
            <a:ext cx="5102352" cy="1069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E6F1FF"/>
                </a:solidFill>
                <a:latin typeface="Microsoft YaHei"/>
                <a:ea typeface="Microsoft YaHei"/>
              </a:rPr>
              <a:t>fact-retrieval / evidence-curation</a:t>
            </a:r>
          </a:p>
          <a:p>
            <a:pPr>
              <a:spcBef>
                <a:spcPts val="300"/>
              </a:spcBef>
            </a:pPr>
            <a:r>
              <a:rPr sz="1050" b="0">
                <a:solidFill>
                  <a:srgbClr val="8892B0"/>
                </a:solidFill>
                <a:latin typeface="Microsoft YaHei"/>
                <a:ea typeface="Microsoft YaHei"/>
              </a:rPr>
              <a:t>事实检索与补证 → 事实策展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2971800"/>
            <a:ext cx="5394960" cy="1234440"/>
          </a:xfrm>
          <a:prstGeom prst="roundRect">
            <a:avLst>
              <a:gd name="adj" fmla="val 8000"/>
            </a:avLst>
          </a:prstGeom>
          <a:solidFill>
            <a:srgbClr val="112240"/>
          </a:solidFill>
          <a:ln w="1524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72784" y="3054096"/>
            <a:ext cx="5102352" cy="1069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E6F1FF"/>
                </a:solidFill>
                <a:latin typeface="Microsoft YaHei"/>
                <a:ea typeface="Microsoft YaHei"/>
              </a:rPr>
              <a:t>trusted-rewrite</a:t>
            </a:r>
          </a:p>
          <a:p>
            <a:pPr>
              <a:spcBef>
                <a:spcPts val="300"/>
              </a:spcBef>
            </a:pPr>
            <a:r>
              <a:rPr sz="1050" b="0">
                <a:solidFill>
                  <a:srgbClr val="8892B0"/>
                </a:solidFill>
                <a:latin typeface="Microsoft YaHei"/>
                <a:ea typeface="Microsoft YaHei"/>
              </a:rPr>
              <a:t>可信改写 → 简历策略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4434840"/>
            <a:ext cx="5394960" cy="1234440"/>
          </a:xfrm>
          <a:prstGeom prst="roundRect">
            <a:avLst>
              <a:gd name="adj" fmla="val 8000"/>
            </a:avLst>
          </a:prstGeom>
          <a:solidFill>
            <a:srgbClr val="112240"/>
          </a:solidFill>
          <a:ln w="1524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" y="4517136"/>
            <a:ext cx="5102352" cy="1069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E6F1FF"/>
                </a:solidFill>
                <a:latin typeface="Microsoft YaHei"/>
                <a:ea typeface="Microsoft YaHei"/>
              </a:rPr>
              <a:t>delivery-gate</a:t>
            </a:r>
          </a:p>
          <a:p>
            <a:pPr>
              <a:spcBef>
                <a:spcPts val="300"/>
              </a:spcBef>
            </a:pPr>
            <a:r>
              <a:rPr sz="1050" b="0">
                <a:solidFill>
                  <a:srgbClr val="8892B0"/>
                </a:solidFill>
                <a:latin typeface="Microsoft YaHei"/>
                <a:ea typeface="Microsoft YaHei"/>
              </a:rPr>
              <a:t>交付门禁 → 质量守护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80" y="4434840"/>
            <a:ext cx="5394960" cy="1234440"/>
          </a:xfrm>
          <a:prstGeom prst="roundRect">
            <a:avLst>
              <a:gd name="adj" fmla="val 8000"/>
            </a:avLst>
          </a:prstGeom>
          <a:solidFill>
            <a:srgbClr val="112240"/>
          </a:solidFill>
          <a:ln w="1524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72784" y="4517136"/>
            <a:ext cx="5102352" cy="1069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E6F1FF"/>
                </a:solidFill>
                <a:latin typeface="Microsoft YaHei"/>
                <a:ea typeface="Microsoft YaHei"/>
              </a:rPr>
              <a:t>trace-observability / mock-evaluation</a:t>
            </a:r>
          </a:p>
          <a:p>
            <a:pPr>
              <a:spcBef>
                <a:spcPts val="300"/>
              </a:spcBef>
            </a:pPr>
            <a:r>
              <a:rPr sz="1050" b="0">
                <a:solidFill>
                  <a:srgbClr val="8892B0"/>
                </a:solidFill>
                <a:latin typeface="Microsoft YaHei"/>
                <a:ea typeface="Microsoft YaHei"/>
              </a:rPr>
              <a:t>可观测与评测 → 全部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5715000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FFC864"/>
                </a:solidFill>
                <a:latin typeface="Microsoft YaHei"/>
                <a:ea typeface="Microsoft YaHei"/>
              </a:rPr>
              <a:t>统一披露：输入输出 / 调用条件 / 依赖 / 失败处理 / 权限安全 / 复用价值（见材料 04）。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828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64FFDA"/>
                </a:solidFill>
                <a:latin typeface="Consolas"/>
                <a:ea typeface="Microsoft YaHei"/>
              </a:rPr>
              <a:t>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6576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1">
                <a:solidFill>
                  <a:srgbClr val="E6F1FF"/>
                </a:solidFill>
                <a:latin typeface="Microsoft YaHei"/>
                <a:ea typeface="Microsoft YaHei"/>
              </a:rPr>
              <a:t>  数据与可信机制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51560"/>
            <a:ext cx="1280160" cy="45720"/>
          </a:xfrm>
          <a:prstGeom prst="rect">
            <a:avLst/>
          </a:prstGeom>
          <a:solidFill>
            <a:srgbClr val="64FF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81360" y="41148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A7A9E"/>
                </a:solidFill>
                <a:latin typeface="Consolas"/>
                <a:ea typeface="Microsoft YaHei"/>
              </a:rPr>
              <a:t>09 / 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078327" y="1691640"/>
            <a:ext cx="1645920" cy="822960"/>
          </a:xfrm>
          <a:prstGeom prst="roundRect">
            <a:avLst>
              <a:gd name="adj" fmla="val 8000"/>
            </a:avLst>
          </a:prstGeom>
          <a:solidFill>
            <a:srgbClr val="112240"/>
          </a:solidFill>
          <a:ln w="15240">
            <a:solidFill>
              <a:srgbClr val="3F6F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>
                <a:solidFill>
                  <a:srgbClr val="E6F1FF"/>
                </a:solidFill>
                <a:latin typeface="Microsoft YaHei"/>
                <a:ea typeface="Microsoft YaHei"/>
              </a:rPr>
              <a:t>候选</a:t>
            </a:r>
          </a:p>
          <a:p>
            <a:pPr algn="ctr"/>
            <a:r>
              <a:rPr sz="800" b="0">
                <a:solidFill>
                  <a:srgbClr val="5A7A9E"/>
                </a:solidFill>
                <a:latin typeface="Microsoft YaHei"/>
                <a:ea typeface="Microsoft YaHei"/>
              </a:rPr>
              <a:t>AI 生成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24247" y="1920240"/>
            <a:ext cx="5486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64FFDA"/>
                </a:solidFill>
                <a:latin typeface="Microsoft YaHei"/>
                <a:ea typeface="Microsoft YaHei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272887" y="1691640"/>
            <a:ext cx="1645920" cy="822960"/>
          </a:xfrm>
          <a:prstGeom prst="roundRect">
            <a:avLst>
              <a:gd name="adj" fmla="val 8000"/>
            </a:avLst>
          </a:prstGeom>
          <a:solidFill>
            <a:srgbClr val="112240"/>
          </a:solidFill>
          <a:ln w="15240">
            <a:solidFill>
              <a:srgbClr val="3F6F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>
                <a:solidFill>
                  <a:srgbClr val="E6F1FF"/>
                </a:solidFill>
                <a:latin typeface="Microsoft YaHei"/>
                <a:ea typeface="Microsoft YaHei"/>
              </a:rPr>
              <a:t>待复核</a:t>
            </a:r>
          </a:p>
          <a:p>
            <a:pPr algn="ctr"/>
            <a:r>
              <a:rPr sz="800" b="0">
                <a:solidFill>
                  <a:srgbClr val="5A7A9E"/>
                </a:solidFill>
                <a:latin typeface="Microsoft YaHei"/>
                <a:ea typeface="Microsoft YaHei"/>
              </a:rPr>
              <a:t>人工核对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18807" y="1920240"/>
            <a:ext cx="5486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64FFDA"/>
                </a:solidFill>
                <a:latin typeface="Microsoft YaHei"/>
                <a:ea typeface="Microsoft YaHei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67447" y="1691640"/>
            <a:ext cx="1645920" cy="822960"/>
          </a:xfrm>
          <a:prstGeom prst="roundRect">
            <a:avLst>
              <a:gd name="adj" fmla="val 8000"/>
            </a:avLst>
          </a:prstGeom>
          <a:solidFill>
            <a:srgbClr val="112240"/>
          </a:solidFill>
          <a:ln w="15240">
            <a:solidFill>
              <a:srgbClr val="3F6F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>
                <a:solidFill>
                  <a:srgbClr val="E6F1FF"/>
                </a:solidFill>
                <a:latin typeface="Microsoft YaHei"/>
                <a:ea typeface="Microsoft YaHei"/>
              </a:rPr>
              <a:t>已确认</a:t>
            </a:r>
          </a:p>
          <a:p>
            <a:pPr algn="ctr"/>
            <a:r>
              <a:rPr sz="800" b="0">
                <a:solidFill>
                  <a:srgbClr val="5A7A9E"/>
                </a:solidFill>
                <a:latin typeface="Microsoft YaHei"/>
                <a:ea typeface="Microsoft YaHei"/>
              </a:rPr>
              <a:t>参与交付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108960"/>
            <a:ext cx="5394960" cy="1234440"/>
          </a:xfrm>
          <a:prstGeom prst="roundRect">
            <a:avLst>
              <a:gd name="adj" fmla="val 8000"/>
            </a:avLst>
          </a:prstGeom>
          <a:solidFill>
            <a:srgbClr val="112240"/>
          </a:solidFill>
          <a:ln w="1524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" y="3191256"/>
            <a:ext cx="5102352" cy="1069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E6F1FF"/>
                </a:solidFill>
                <a:latin typeface="Microsoft YaHei"/>
                <a:ea typeface="Microsoft YaHei"/>
              </a:rPr>
              <a:t>过期传播</a:t>
            </a:r>
          </a:p>
          <a:p>
            <a:pPr>
              <a:spcBef>
                <a:spcPts val="300"/>
              </a:spcBef>
            </a:pPr>
            <a:r>
              <a:rPr sz="1050" b="0">
                <a:solidFill>
                  <a:srgbClr val="8892B0"/>
                </a:solidFill>
                <a:latin typeface="Microsoft YaHei"/>
                <a:ea typeface="Microsoft YaHei"/>
              </a:rPr>
              <a:t>依赖变化后下游结果置为已过期并锁定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3108960"/>
            <a:ext cx="5394960" cy="1234440"/>
          </a:xfrm>
          <a:prstGeom prst="roundRect">
            <a:avLst>
              <a:gd name="adj" fmla="val 8000"/>
            </a:avLst>
          </a:prstGeom>
          <a:solidFill>
            <a:srgbClr val="112240"/>
          </a:solidFill>
          <a:ln w="1524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72784" y="3191256"/>
            <a:ext cx="5102352" cy="1069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E6F1FF"/>
                </a:solidFill>
                <a:latin typeface="Microsoft YaHei"/>
                <a:ea typeface="Microsoft YaHei"/>
              </a:rPr>
              <a:t>四道人工门禁</a:t>
            </a:r>
          </a:p>
          <a:p>
            <a:pPr>
              <a:spcBef>
                <a:spcPts val="300"/>
              </a:spcBef>
            </a:pPr>
            <a:r>
              <a:rPr sz="1050" b="0">
                <a:solidFill>
                  <a:srgbClr val="8892B0"/>
                </a:solidFill>
                <a:latin typeface="Microsoft YaHei"/>
                <a:ea typeface="Microsoft YaHei"/>
              </a:rPr>
              <a:t>需求确认·证据确认·优化采用·最终导出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4572000"/>
            <a:ext cx="5394960" cy="1234440"/>
          </a:xfrm>
          <a:prstGeom prst="roundRect">
            <a:avLst>
              <a:gd name="adj" fmla="val 8000"/>
            </a:avLst>
          </a:prstGeom>
          <a:solidFill>
            <a:srgbClr val="112240"/>
          </a:solidFill>
          <a:ln w="1524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" y="4654296"/>
            <a:ext cx="5102352" cy="1069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E6F1FF"/>
                </a:solidFill>
                <a:latin typeface="Microsoft YaHei"/>
                <a:ea typeface="Microsoft YaHei"/>
              </a:rPr>
              <a:t>确定性评分</a:t>
            </a:r>
          </a:p>
          <a:p>
            <a:pPr>
              <a:spcBef>
                <a:spcPts val="300"/>
              </a:spcBef>
            </a:pPr>
            <a:r>
              <a:rPr sz="1050" b="0">
                <a:solidFill>
                  <a:srgbClr val="8892B0"/>
                </a:solidFill>
                <a:latin typeface="Microsoft YaHei"/>
                <a:ea typeface="Microsoft YaHei"/>
              </a:rPr>
              <a:t>准备度由 TypeScript 按证据强度计算，非模型自报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26480" y="4572000"/>
            <a:ext cx="5394960" cy="1234440"/>
          </a:xfrm>
          <a:prstGeom prst="roundRect">
            <a:avLst>
              <a:gd name="adj" fmla="val 8000"/>
            </a:avLst>
          </a:prstGeom>
          <a:solidFill>
            <a:srgbClr val="112240"/>
          </a:solidFill>
          <a:ln w="1524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72784" y="4654296"/>
            <a:ext cx="5102352" cy="1069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E6F1FF"/>
                </a:solidFill>
                <a:latin typeface="Microsoft YaHei"/>
                <a:ea typeface="Microsoft YaHei"/>
              </a:rPr>
              <a:t>全程可审计</a:t>
            </a:r>
          </a:p>
          <a:p>
            <a:pPr>
              <a:spcBef>
                <a:spcPts val="300"/>
              </a:spcBef>
            </a:pPr>
            <a:r>
              <a:rPr sz="1050" b="0">
                <a:solidFill>
                  <a:srgbClr val="8892B0"/>
                </a:solidFill>
                <a:latin typeface="Microsoft YaHei"/>
                <a:ea typeface="Microsoft YaHei"/>
              </a:rPr>
              <a:t>引用链 + Trace 可回放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828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64FFDA"/>
                </a:solidFill>
                <a:latin typeface="Consolas"/>
                <a:ea typeface="Microsoft YaHei"/>
              </a:rP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6576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1">
                <a:solidFill>
                  <a:srgbClr val="E6F1FF"/>
                </a:solidFill>
                <a:latin typeface="Microsoft YaHei"/>
                <a:ea typeface="Microsoft YaHei"/>
              </a:rPr>
              <a:t>  工程与可观测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51560"/>
            <a:ext cx="1280160" cy="45720"/>
          </a:xfrm>
          <a:prstGeom prst="rect">
            <a:avLst/>
          </a:prstGeom>
          <a:solidFill>
            <a:srgbClr val="64FF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81360" y="41148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A7A9E"/>
                </a:solidFill>
                <a:latin typeface="Consolas"/>
                <a:ea typeface="Microsoft YaHei"/>
              </a:rPr>
              <a:t>10 / 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508760"/>
            <a:ext cx="5394960" cy="1234440"/>
          </a:xfrm>
          <a:prstGeom prst="roundRect">
            <a:avLst>
              <a:gd name="adj" fmla="val 8000"/>
            </a:avLst>
          </a:prstGeom>
          <a:solidFill>
            <a:srgbClr val="112240"/>
          </a:solidFill>
          <a:ln w="1524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" y="1591056"/>
            <a:ext cx="5102352" cy="1069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E6F1FF"/>
                </a:solidFill>
                <a:latin typeface="Microsoft YaHei"/>
                <a:ea typeface="Microsoft YaHei"/>
              </a:rPr>
              <a:t>结构化校验</a:t>
            </a:r>
          </a:p>
          <a:p>
            <a:pPr>
              <a:spcBef>
                <a:spcPts val="300"/>
              </a:spcBef>
            </a:pPr>
            <a:r>
              <a:rPr sz="1050" b="0">
                <a:solidFill>
                  <a:srgbClr val="8892B0"/>
                </a:solidFill>
                <a:latin typeface="Microsoft YaHei"/>
                <a:ea typeface="Microsoft YaHei"/>
              </a:rPr>
              <a:t>Zod 请求与输出校验；OpenAI 严格 JSON Schema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508760"/>
            <a:ext cx="5394960" cy="1234440"/>
          </a:xfrm>
          <a:prstGeom prst="roundRect">
            <a:avLst>
              <a:gd name="adj" fmla="val 8000"/>
            </a:avLst>
          </a:prstGeom>
          <a:solidFill>
            <a:srgbClr val="112240"/>
          </a:solidFill>
          <a:ln w="1524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72784" y="1591056"/>
            <a:ext cx="5102352" cy="1069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E6F1FF"/>
                </a:solidFill>
                <a:latin typeface="Microsoft YaHei"/>
                <a:ea typeface="Microsoft YaHei"/>
              </a:rPr>
              <a:t>资源控制</a:t>
            </a:r>
          </a:p>
          <a:p>
            <a:pPr>
              <a:spcBef>
                <a:spcPts val="300"/>
              </a:spcBef>
            </a:pPr>
            <a:r>
              <a:rPr sz="1050" b="0">
                <a:solidFill>
                  <a:srgbClr val="8892B0"/>
                </a:solidFill>
                <a:latin typeface="Microsoft YaHei"/>
                <a:ea typeface="Microsoft YaHei"/>
              </a:rPr>
              <a:t>心跳·取消·2分钟硬上限·调用预算·超时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971800"/>
            <a:ext cx="5394960" cy="1234440"/>
          </a:xfrm>
          <a:prstGeom prst="roundRect">
            <a:avLst>
              <a:gd name="adj" fmla="val 8000"/>
            </a:avLst>
          </a:prstGeom>
          <a:solidFill>
            <a:srgbClr val="112240"/>
          </a:solidFill>
          <a:ln w="1524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" y="3054096"/>
            <a:ext cx="5102352" cy="1069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E6F1FF"/>
                </a:solidFill>
                <a:latin typeface="Microsoft YaHei"/>
                <a:ea typeface="Microsoft YaHei"/>
              </a:rPr>
              <a:t>可观测</a:t>
            </a:r>
          </a:p>
          <a:p>
            <a:pPr>
              <a:spcBef>
                <a:spcPts val="300"/>
              </a:spcBef>
            </a:pPr>
            <a:r>
              <a:rPr sz="1050" b="0">
                <a:solidFill>
                  <a:srgbClr val="8892B0"/>
                </a:solidFill>
                <a:latin typeface="Microsoft YaHei"/>
                <a:ea typeface="Microsoft YaHei"/>
              </a:rPr>
              <a:t>Prompt Registry + Studio Trace 可回放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2971800"/>
            <a:ext cx="5394960" cy="1234440"/>
          </a:xfrm>
          <a:prstGeom prst="roundRect">
            <a:avLst>
              <a:gd name="adj" fmla="val 8000"/>
            </a:avLst>
          </a:prstGeom>
          <a:solidFill>
            <a:srgbClr val="112240"/>
          </a:solidFill>
          <a:ln w="1524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72784" y="3054096"/>
            <a:ext cx="5102352" cy="1069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E6F1FF"/>
                </a:solidFill>
                <a:latin typeface="Microsoft YaHei"/>
                <a:ea typeface="Microsoft YaHei"/>
              </a:rPr>
              <a:t>可复现</a:t>
            </a:r>
          </a:p>
          <a:p>
            <a:pPr>
              <a:spcBef>
                <a:spcPts val="300"/>
              </a:spcBef>
            </a:pPr>
            <a:r>
              <a:rPr sz="1050" b="0">
                <a:solidFill>
                  <a:srgbClr val="8892B0"/>
                </a:solidFill>
                <a:latin typeface="Microsoft YaHei"/>
                <a:ea typeface="Microsoft YaHei"/>
              </a:rPr>
              <a:t>DirectLLM 主路径 + Mock 离线确定性路径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4297680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64FFDA"/>
                </a:solidFill>
                <a:latin typeface="Microsoft YaHei"/>
                <a:ea typeface="Microsoft YaHei"/>
              </a:rPr>
              <a:t>测试与评测：Vitest 155 用例 + Playwright e2e + 合成评测集（schema/F1/召回/保持）。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828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64FFDA"/>
                </a:solidFill>
                <a:latin typeface="Consolas"/>
                <a:ea typeface="Microsoft YaHei"/>
              </a:rP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6576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1">
                <a:solidFill>
                  <a:srgbClr val="E6F1FF"/>
                </a:solidFill>
                <a:latin typeface="Microsoft YaHei"/>
                <a:ea typeface="Microsoft YaHei"/>
              </a:rPr>
              <a:t>  当前 Demo：合成材料的可信闭环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51560"/>
            <a:ext cx="1280160" cy="45720"/>
          </a:xfrm>
          <a:prstGeom prst="rect">
            <a:avLst/>
          </a:prstGeom>
          <a:solidFill>
            <a:srgbClr val="64FF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81360" y="41148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A7A9E"/>
                </a:solidFill>
                <a:latin typeface="Consolas"/>
                <a:ea typeface="Microsoft YaHei"/>
              </a:rPr>
              <a:t>11 / 13</a:t>
            </a:r>
          </a:p>
        </p:txBody>
      </p:sp>
      <p:pic>
        <p:nvPicPr>
          <p:cNvPr id="7" name="Picture 6" descr="01-materia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91640"/>
            <a:ext cx="3657600" cy="2286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4526280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5A7A9E"/>
                </a:solidFill>
                <a:latin typeface="Consolas"/>
                <a:ea typeface="Microsoft YaHei"/>
              </a:rPr>
              <a:t>材料</a:t>
            </a:r>
          </a:p>
        </p:txBody>
      </p:sp>
      <p:pic>
        <p:nvPicPr>
          <p:cNvPr id="9" name="Picture 8" descr="02-requirement-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0" y="1691640"/>
            <a:ext cx="3657600" cy="2286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297680" y="4526280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5A7A9E"/>
                </a:solidFill>
                <a:latin typeface="Consolas"/>
                <a:ea typeface="Microsoft YaHei"/>
              </a:rPr>
              <a:t>需求地图确认</a:t>
            </a:r>
          </a:p>
        </p:txBody>
      </p:sp>
      <p:pic>
        <p:nvPicPr>
          <p:cNvPr id="11" name="Picture 10" descr="03-fact-matc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440" y="1691640"/>
            <a:ext cx="3657600" cy="22860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092440" y="4526280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5A7A9E"/>
                </a:solidFill>
                <a:latin typeface="Consolas"/>
                <a:ea typeface="Microsoft YaHei"/>
              </a:rPr>
              <a:t>事实匹配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5166360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8892B0"/>
                </a:solidFill>
                <a:latin typeface="Microsoft YaHei"/>
                <a:ea typeface="Microsoft YaHei"/>
              </a:rPr>
              <a:t>JD → 确认需求地图 → 匹配事实 → 优化 → 导出（合成数据，另含最终简历/导出门禁/Trace/评测截图）。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828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64FFDA"/>
                </a:solidFill>
                <a:latin typeface="Consolas"/>
                <a:ea typeface="Microsoft YaHei"/>
              </a:rPr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6576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1">
                <a:solidFill>
                  <a:srgbClr val="E6F1FF"/>
                </a:solidFill>
                <a:latin typeface="Microsoft YaHei"/>
                <a:ea typeface="Microsoft YaHei"/>
              </a:rPr>
              <a:t>  安全、开放与合规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51560"/>
            <a:ext cx="1280160" cy="45720"/>
          </a:xfrm>
          <a:prstGeom prst="rect">
            <a:avLst/>
          </a:prstGeom>
          <a:solidFill>
            <a:srgbClr val="64FF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81360" y="41148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A7A9E"/>
                </a:solidFill>
                <a:latin typeface="Consolas"/>
                <a:ea typeface="Microsoft YaHei"/>
              </a:rPr>
              <a:t>12 / 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508760"/>
            <a:ext cx="5394960" cy="1234440"/>
          </a:xfrm>
          <a:prstGeom prst="roundRect">
            <a:avLst>
              <a:gd name="adj" fmla="val 8000"/>
            </a:avLst>
          </a:prstGeom>
          <a:solidFill>
            <a:srgbClr val="112240"/>
          </a:solidFill>
          <a:ln w="1524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" y="1591056"/>
            <a:ext cx="5102352" cy="1069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E6F1FF"/>
                </a:solidFill>
                <a:latin typeface="Microsoft YaHei"/>
                <a:ea typeface="Microsoft YaHei"/>
              </a:rPr>
              <a:t>本地优先</a:t>
            </a:r>
          </a:p>
          <a:p>
            <a:pPr>
              <a:spcBef>
                <a:spcPts val="300"/>
              </a:spcBef>
            </a:pPr>
            <a:r>
              <a:rPr sz="1050" b="0">
                <a:solidFill>
                  <a:srgbClr val="8892B0"/>
                </a:solidFill>
                <a:latin typeface="Microsoft YaHei"/>
                <a:ea typeface="Microsoft YaHei"/>
              </a:rPr>
              <a:t>简历/事实/Trace 存浏览器本地，无服务端数据库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508760"/>
            <a:ext cx="5394960" cy="1234440"/>
          </a:xfrm>
          <a:prstGeom prst="roundRect">
            <a:avLst>
              <a:gd name="adj" fmla="val 8000"/>
            </a:avLst>
          </a:prstGeom>
          <a:solidFill>
            <a:srgbClr val="112240"/>
          </a:solidFill>
          <a:ln w="1524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72784" y="1591056"/>
            <a:ext cx="5102352" cy="1069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E6F1FF"/>
                </a:solidFill>
                <a:latin typeface="Microsoft YaHei"/>
                <a:ea typeface="Microsoft YaHei"/>
              </a:rPr>
              <a:t>隐私</a:t>
            </a:r>
          </a:p>
          <a:p>
            <a:pPr>
              <a:spcBef>
                <a:spcPts val="300"/>
              </a:spcBef>
            </a:pPr>
            <a:r>
              <a:rPr sz="1050" b="0">
                <a:solidFill>
                  <a:srgbClr val="8892B0"/>
                </a:solidFill>
                <a:latin typeface="Microsoft YaHei"/>
                <a:ea typeface="Microsoft YaHei"/>
              </a:rPr>
              <a:t>不采集不上传；演示评测用合成数据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971800"/>
            <a:ext cx="5394960" cy="1234440"/>
          </a:xfrm>
          <a:prstGeom prst="roundRect">
            <a:avLst>
              <a:gd name="adj" fmla="val 8000"/>
            </a:avLst>
          </a:prstGeom>
          <a:solidFill>
            <a:srgbClr val="112240"/>
          </a:solidFill>
          <a:ln w="1524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" y="3054096"/>
            <a:ext cx="5102352" cy="1069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E6F1FF"/>
                </a:solidFill>
                <a:latin typeface="Microsoft YaHei"/>
                <a:ea typeface="Microsoft YaHei"/>
              </a:rPr>
              <a:t>模型服务披露</a:t>
            </a:r>
          </a:p>
          <a:p>
            <a:pPr>
              <a:spcBef>
                <a:spcPts val="300"/>
              </a:spcBef>
            </a:pPr>
            <a:r>
              <a:rPr sz="1050" b="0">
                <a:solidFill>
                  <a:srgbClr val="8892B0"/>
                </a:solidFill>
                <a:latin typeface="Microsoft YaHei"/>
                <a:ea typeface="Microsoft YaHei"/>
              </a:rPr>
              <a:t>用户自配兼容服务；Mock 可复现；API Key 不外泄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2971800"/>
            <a:ext cx="5394960" cy="1234440"/>
          </a:xfrm>
          <a:prstGeom prst="roundRect">
            <a:avLst>
              <a:gd name="adj" fmla="val 8000"/>
            </a:avLst>
          </a:prstGeom>
          <a:solidFill>
            <a:srgbClr val="112240"/>
          </a:solidFill>
          <a:ln w="1524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72784" y="3054096"/>
            <a:ext cx="5102352" cy="1069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E6F1FF"/>
                </a:solidFill>
                <a:latin typeface="Microsoft YaHei"/>
                <a:ea typeface="Microsoft YaHei"/>
              </a:rPr>
              <a:t>开源</a:t>
            </a:r>
          </a:p>
          <a:p>
            <a:pPr>
              <a:spcBef>
                <a:spcPts val="300"/>
              </a:spcBef>
            </a:pPr>
            <a:r>
              <a:rPr sz="1050" b="0">
                <a:solidFill>
                  <a:srgbClr val="8892B0"/>
                </a:solidFill>
                <a:latin typeface="Microsoft YaHei"/>
                <a:ea typeface="Microsoft YaHei"/>
              </a:rPr>
              <a:t>仓库已公开；复赛前落地 LICENSE/依赖/部署/贡献规范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4251960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8892B0"/>
                </a:solidFill>
                <a:latin typeface="Microsoft YaHei"/>
                <a:ea typeface="Microsoft YaHei"/>
              </a:rPr>
              <a:t>MCP：本阶段提供等价连接器契约，迁移仅需协议适配（见材料 05）。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800600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8892B0"/>
                </a:solidFill>
                <a:latin typeface="Microsoft YaHei"/>
                <a:ea typeface="Microsoft YaHei"/>
              </a:rPr>
              <a:t>RAG：以结构化事实 + 稳定 ID + 确定性筛选代替知识库 RAG。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828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64FFDA"/>
                </a:solidFill>
                <a:latin typeface="Consolas"/>
                <a:ea typeface="Microsoft YaHei"/>
              </a:rPr>
              <a:t>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6576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1">
                <a:solidFill>
                  <a:srgbClr val="E6F1FF"/>
                </a:solidFill>
                <a:latin typeface="Microsoft YaHei"/>
                <a:ea typeface="Microsoft YaHei"/>
              </a:rPr>
              <a:t>  复赛路线：从方案到可运行系统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51560"/>
            <a:ext cx="1280160" cy="45720"/>
          </a:xfrm>
          <a:prstGeom prst="rect">
            <a:avLst/>
          </a:prstGeom>
          <a:solidFill>
            <a:srgbClr val="64FF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81360" y="41148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A7A9E"/>
                </a:solidFill>
                <a:latin typeface="Consolas"/>
                <a:ea typeface="Microsoft YaHei"/>
              </a:rPr>
              <a:t>13 / 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103120"/>
            <a:ext cx="2103120" cy="2103120"/>
          </a:xfrm>
          <a:prstGeom prst="roundRect">
            <a:avLst>
              <a:gd name="adj" fmla="val 8000"/>
            </a:avLst>
          </a:prstGeom>
          <a:solidFill>
            <a:srgbClr val="112240"/>
          </a:solidFill>
          <a:ln w="1524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2240280"/>
            <a:ext cx="2103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64FFDA"/>
                </a:solidFill>
                <a:latin typeface="Consolas"/>
                <a:ea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743200"/>
            <a:ext cx="21031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8892B0"/>
                </a:solidFill>
                <a:latin typeface="Microsoft YaHei"/>
                <a:ea typeface="Microsoft YaHei"/>
              </a:rPr>
              <a:t>AgentTeams 运行时</a:t>
            </a:r>
          </a:p>
          <a:p>
            <a:pPr algn="ctr">
              <a:spcAft>
                <a:spcPts val="400"/>
              </a:spcAft>
            </a:pPr>
            <a:r>
              <a:rPr sz="1050" b="0">
                <a:solidFill>
                  <a:srgbClr val="8892B0"/>
                </a:solidFill>
                <a:latin typeface="Microsoft YaHei"/>
                <a:ea typeface="Microsoft YaHei"/>
              </a:rPr>
              <a:t>主控 + 4 Agent 协同层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70632" y="2103120"/>
            <a:ext cx="2103120" cy="2103120"/>
          </a:xfrm>
          <a:prstGeom prst="roundRect">
            <a:avLst>
              <a:gd name="adj" fmla="val 8000"/>
            </a:avLst>
          </a:prstGeom>
          <a:solidFill>
            <a:srgbClr val="112240"/>
          </a:solidFill>
          <a:ln w="1524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70632" y="2240280"/>
            <a:ext cx="2103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64FFDA"/>
                </a:solidFill>
                <a:latin typeface="Consolas"/>
                <a:ea typeface="Microsoft YaHe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70632" y="2743200"/>
            <a:ext cx="21031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8892B0"/>
                </a:solidFill>
                <a:latin typeface="Microsoft YaHei"/>
                <a:ea typeface="Microsoft YaHei"/>
              </a:rPr>
              <a:t>Skill 包工程化</a:t>
            </a:r>
          </a:p>
          <a:p>
            <a:pPr algn="ctr">
              <a:spcAft>
                <a:spcPts val="400"/>
              </a:spcAft>
            </a:pPr>
            <a:r>
              <a:rPr sz="1050" b="0">
                <a:solidFill>
                  <a:srgbClr val="8892B0"/>
                </a:solidFill>
                <a:latin typeface="Microsoft YaHei"/>
                <a:ea typeface="Microsoft YaHei"/>
              </a:rPr>
              <a:t>版本/发布/回滚/评估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38344" y="2103120"/>
            <a:ext cx="2103120" cy="2103120"/>
          </a:xfrm>
          <a:prstGeom prst="roundRect">
            <a:avLst>
              <a:gd name="adj" fmla="val 8000"/>
            </a:avLst>
          </a:prstGeom>
          <a:solidFill>
            <a:srgbClr val="112240"/>
          </a:solidFill>
          <a:ln w="1524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38344" y="2240280"/>
            <a:ext cx="2103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64FFDA"/>
                </a:solidFill>
                <a:latin typeface="Consolas"/>
                <a:ea typeface="Microsoft YaHei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38344" y="2743200"/>
            <a:ext cx="21031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8892B0"/>
                </a:solidFill>
                <a:latin typeface="Microsoft YaHei"/>
                <a:ea typeface="Microsoft YaHei"/>
              </a:rPr>
              <a:t>可执行 Demo</a:t>
            </a:r>
          </a:p>
          <a:p>
            <a:pPr algn="ctr">
              <a:spcAft>
                <a:spcPts val="400"/>
              </a:spcAft>
            </a:pPr>
            <a:r>
              <a:rPr sz="1050" b="0">
                <a:solidFill>
                  <a:srgbClr val="8892B0"/>
                </a:solidFill>
                <a:latin typeface="Microsoft YaHei"/>
                <a:ea typeface="Microsoft YaHei"/>
              </a:rPr>
              <a:t>链路 + 日志/Trace/指标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06056" y="2103120"/>
            <a:ext cx="2103120" cy="2103120"/>
          </a:xfrm>
          <a:prstGeom prst="roundRect">
            <a:avLst>
              <a:gd name="adj" fmla="val 8000"/>
            </a:avLst>
          </a:prstGeom>
          <a:solidFill>
            <a:srgbClr val="112240"/>
          </a:solidFill>
          <a:ln w="1524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06056" y="2240280"/>
            <a:ext cx="2103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64FFDA"/>
                </a:solidFill>
                <a:latin typeface="Consolas"/>
                <a:ea typeface="Microsoft YaHei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06056" y="2743200"/>
            <a:ext cx="21031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8892B0"/>
                </a:solidFill>
                <a:latin typeface="Microsoft YaHei"/>
                <a:ea typeface="Microsoft YaHei"/>
              </a:rPr>
              <a:t>回放评测</a:t>
            </a:r>
          </a:p>
          <a:p>
            <a:pPr algn="ctr">
              <a:spcAft>
                <a:spcPts val="400"/>
              </a:spcAft>
            </a:pPr>
            <a:r>
              <a:rPr sz="1050" b="0">
                <a:solidFill>
                  <a:srgbClr val="8892B0"/>
                </a:solidFill>
                <a:latin typeface="Microsoft YaHei"/>
                <a:ea typeface="Microsoft YaHei"/>
              </a:rPr>
              <a:t>Golden/Badcase 数据集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573768" y="2103120"/>
            <a:ext cx="2103120" cy="2103120"/>
          </a:xfrm>
          <a:prstGeom prst="roundRect">
            <a:avLst>
              <a:gd name="adj" fmla="val 8000"/>
            </a:avLst>
          </a:prstGeom>
          <a:solidFill>
            <a:srgbClr val="112240"/>
          </a:solidFill>
          <a:ln w="1524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73768" y="2240280"/>
            <a:ext cx="2103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64FFDA"/>
                </a:solidFill>
                <a:latin typeface="Consolas"/>
                <a:ea typeface="Microsoft YaHei"/>
              </a:rPr>
              <a:t>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73768" y="2743200"/>
            <a:ext cx="21031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8892B0"/>
                </a:solidFill>
                <a:latin typeface="Microsoft YaHei"/>
                <a:ea typeface="Microsoft YaHei"/>
              </a:rPr>
              <a:t>公开工程材料</a:t>
            </a:r>
          </a:p>
          <a:p>
            <a:pPr algn="ctr">
              <a:spcAft>
                <a:spcPts val="400"/>
              </a:spcAft>
            </a:pPr>
            <a:r>
              <a:rPr sz="1050" b="0">
                <a:solidFill>
                  <a:srgbClr val="8892B0"/>
                </a:solidFill>
                <a:latin typeface="Microsoft YaHei"/>
                <a:ea typeface="Microsoft YaHei"/>
              </a:rPr>
              <a:t>LICENSE/依赖/部署规范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5349240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C864"/>
                </a:solidFill>
                <a:latin typeface="Microsoft YaHei"/>
                <a:ea typeface="Microsoft YaHei"/>
              </a:rPr>
              <a:t>初赛：可信方案 + 证据；复赛：可运行、可验证、可审计、可持续演进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