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F172A"/>
                </a:solidFill>
                <a:latin typeface="Microsoft YaHei"/>
                <a:ea typeface="Microsoft YaHei"/>
              </a:rPr>
              <a:t>职途智策 AgentTeam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4F46E5"/>
                </a:solidFill>
                <a:latin typeface="Microsoft YaHei"/>
                <a:ea typeface="Microsoft YaHei"/>
              </a:rPr>
              <a:t>面向求职决策的可信多 Agent 协作系统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</a:rPr>
              <a:t>GOAI 新智基座｜Agent Infra · 复杂任务多 Agent 自主协同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Microsoft YaHei"/>
                <a:ea typeface="Microsoft YaHei"/>
              </a:rPr>
              <a:t>参赛者：张英超 · 个人参赛 · 初赛 V0.1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15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59E0B"/>
                </a:solidFill>
                <a:latin typeface="Microsoft YaHei"/>
                <a:ea typeface="Microsoft YaHei"/>
              </a:rPr>
              <a:t>AgentTeams · Skill · 可信门禁 · 可观测 · 可回放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172A"/>
                </a:solidFill>
                <a:latin typeface="Microsoft YaHei"/>
                <a:ea typeface="Microsoft YaHei"/>
              </a:rPr>
              <a:t>场景：可信求职决策是普遍且真实的问题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1371600" cy="64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02/13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0F172A"/>
                </a:solidFill>
                <a:latin typeface="Microsoft YaHei"/>
                <a:ea typeface="Microsoft YaHei"/>
              </a:rPr>
              <a:t>●  求职者的难点不是“生成更好看的简历”，而是把零散经历变成可验证事实，再做可信决策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目标用户：求职者（校招/社招）与求职辅导者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输入：JD 原文 + 原始简历 + 项目化经历事实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输出：可信的岗位准备度、岗位定制优化简历、可审计的投递交付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563EB"/>
                </a:solidFill>
                <a:latin typeface="Microsoft YaHei"/>
                <a:ea typeface="Microsoft YaHei"/>
              </a:rPr>
              <a:t>●  行业可复制性：任何“材料 → 决策 → 交付”的高可信场景（晋升、留学、招标）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D9488"/>
                </a:solidFill>
                <a:latin typeface="Microsoft YaHei"/>
                <a:ea typeface="Microsoft YaHei"/>
              </a:rPr>
              <a:t>●  真实价值：减少误读与虚构，把主观美化变为可追溯、可复现的决策闭环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172A"/>
                </a:solidFill>
                <a:latin typeface="Microsoft YaHei"/>
                <a:ea typeface="Microsoft YaHei"/>
              </a:rPr>
              <a:t>痛点：四个高频失真的来源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1371600" cy="6400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03/13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E11D48"/>
                </a:solidFill>
                <a:latin typeface="Microsoft YaHei"/>
                <a:ea typeface="Microsoft YaHei"/>
              </a:rPr>
              <a:t>●  JD 误读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关键词堆砌、漏读优先级与否定条件，把推断当要求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E11D48"/>
                </a:solidFill>
                <a:latin typeface="Microsoft YaHei"/>
                <a:ea typeface="Microsoft YaHei"/>
              </a:rPr>
              <a:t>●  经历虚构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AI 改写无依据、成果无法溯源，量化数字随口编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E11D48"/>
                </a:solidFill>
                <a:latin typeface="Microsoft YaHei"/>
                <a:ea typeface="Microsoft YaHei"/>
              </a:rPr>
              <a:t>●  版本混乱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多岗位版本交叉污染，新旧材料混用，导出旧结果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E11D48"/>
                </a:solidFill>
                <a:latin typeface="Microsoft YaHei"/>
                <a:ea typeface="Microsoft YaHei"/>
              </a:rPr>
              <a:t>●  结果不可审计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评分靠模型自报，无法回放、无法复核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172A"/>
                </a:solidFill>
                <a:latin typeface="Microsoft YaHei"/>
                <a:ea typeface="Microsoft YaHei"/>
              </a:rPr>
              <a:t>方案总览：从材料到交付的可信闭环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1371600" cy="64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04/13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46E5"/>
                </a:solidFill>
                <a:latin typeface="Microsoft YaHei"/>
                <a:ea typeface="Microsoft YaHei"/>
              </a:rPr>
              <a:t>材料 → 分析 → 制作 → 交付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59E0B"/>
                </a:solidFill>
                <a:latin typeface="Microsoft YaHei"/>
                <a:ea typeface="Microsoft YaHei"/>
              </a:rPr>
              <a:t>识别到 ≠ 可信：需求、事实、优化项、最终简历都有确认门禁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972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材料：岗位/JD/简历 + 项目化事实库（带原文引用与确认状态）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分析：JD 决策地图 → 人工确认 → 事实匹配 → 准备度/缺口 → 定向补证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制作：仅基于已确认事实生成优化方案与简历草稿 → 逐项采用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交付：ATS 就绪度 + 导出门禁 + 投递记录；面试策略不阻塞交付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172A"/>
                </a:solidFill>
                <a:latin typeface="Microsoft YaHei"/>
                <a:ea typeface="Microsoft YaHei"/>
              </a:rPr>
              <a:t>AgentTeams 架构：分层 + 主控路由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05/13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入口层：岗位 / JD / 简历 / 证据 / 导出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F46E5"/>
                </a:solidFill>
                <a:latin typeface="Microsoft YaHei"/>
                <a:ea typeface="Microsoft YaHei"/>
              </a:rPr>
              <a:t>●  AgentTeams 编排层：主控任务拆解、阶段路由、上下文编排、状态追踪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7C3AED"/>
                </a:solidFill>
                <a:latin typeface="Microsoft YaHei"/>
                <a:ea typeface="Microsoft YaHei"/>
              </a:rPr>
              <a:t>●  多 Agent 层：JobRequirementAnalyst · EvidenceCurator · ResumeStrategist · QualityDeliveryGuardian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D9488"/>
                </a:solidFill>
                <a:latin typeface="Microsoft YaHei"/>
                <a:ea typeface="Microsoft YaHei"/>
              </a:rPr>
              <a:t>●  Skill 能力层：材料校验 · JD 决策地图 · 事实检索 · 补证 · 可信改写 · 交付门禁 · Trace · 评测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连接器契约层：DirectLLM / Mock / 导入解析 / 导出（MCP 等价，见材料 05）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证据治理层：共享状态 + Studio Trace + Zod 校验 + 评测集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172A"/>
                </a:solidFill>
                <a:latin typeface="Microsoft YaHei"/>
                <a:ea typeface="Microsoft YaHei"/>
              </a:rPr>
              <a:t>完整任务链路：一条可追溯闭环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1371600" cy="6400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06/13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Microsoft YaHei"/>
                <a:ea typeface="Microsoft YaHei"/>
              </a:rPr>
              <a:t>JD 解析 → 人工确认需求地图 → 事实匹配 → 准备度/缺口 → 定向补证 → 优化制作 → 交付导出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缺口 → 补证 → 重匹配 构成回流，事实确认后重新参与匹配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</a:rPr>
              <a:t>●  面试准备 / 复盘为辅助流程，不阻塞简历交付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F59E0B"/>
                </a:solidFill>
                <a:latin typeface="Microsoft YaHei"/>
                <a:ea typeface="Microsoft YaHei"/>
              </a:rPr>
              <a:t>●  依赖变化（JD/材料/事实/风格）→ 结果置为过期，禁止导出旧结果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D9488"/>
                </a:solidFill>
                <a:latin typeface="Microsoft YaHei"/>
                <a:ea typeface="Microsoft YaHei"/>
              </a:rPr>
              <a:t>●  上下文传递：requirementId · claimId · traceId 贯穿引用链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172A"/>
                </a:solidFill>
                <a:latin typeface="Microsoft YaHei"/>
                <a:ea typeface="Microsoft YaHei"/>
              </a:rPr>
              <a:t>Agent 身份与协作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07/13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737360"/>
            <a:ext cx="4572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职责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7373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关键边界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F46E5"/>
                </a:solidFill>
                <a:latin typeface="Microsoft YaHei"/>
                <a:ea typeface="Microsoft YaHei"/>
              </a:rPr>
              <a:t>JobRequirementAnalyst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514600"/>
            <a:ext cx="4572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Microsoft YaHei"/>
                <a:ea typeface="Microsoft YaHei"/>
              </a:rPr>
              <a:t>JD → 带原文锚点的需求地图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5146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59E0B"/>
                </a:solidFill>
                <a:latin typeface="Microsoft YaHei"/>
                <a:ea typeface="Microsoft YaHei"/>
              </a:rPr>
              <a:t>产出为候选，须人工确认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4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F46E5"/>
                </a:solidFill>
                <a:latin typeface="Microsoft YaHei"/>
                <a:ea typeface="Microsoft YaHei"/>
              </a:rPr>
              <a:t>EvidenceCurator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291840"/>
            <a:ext cx="4572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Microsoft YaHei"/>
                <a:ea typeface="Microsoft YaHei"/>
              </a:rPr>
              <a:t>事实检索 / 筛选 / 补证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29184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59E0B"/>
                </a:solidFill>
                <a:latin typeface="Microsoft YaHei"/>
                <a:ea typeface="Microsoft YaHei"/>
              </a:rPr>
              <a:t>事实须逐条人工确认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F46E5"/>
                </a:solidFill>
                <a:latin typeface="Microsoft YaHei"/>
                <a:ea typeface="Microsoft YaHei"/>
              </a:rPr>
              <a:t>ResumeStrategist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069080"/>
            <a:ext cx="4572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Microsoft YaHei"/>
                <a:ea typeface="Microsoft YaHei"/>
              </a:rPr>
              <a:t>仅基于已确认事实生成优化与草稿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406908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59E0B"/>
                </a:solidFill>
                <a:latin typeface="Microsoft YaHei"/>
                <a:ea typeface="Microsoft YaHei"/>
              </a:rPr>
              <a:t>不引入未确认成果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4632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F46E5"/>
                </a:solidFill>
                <a:latin typeface="Microsoft YaHei"/>
                <a:ea typeface="Microsoft YaHei"/>
              </a:rPr>
              <a:t>QualityDeliveryGuardian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846320"/>
            <a:ext cx="4572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Microsoft YaHei"/>
                <a:ea typeface="Microsoft YaHei"/>
              </a:rPr>
              <a:t>Schema/引用/过期/ATS/导出门禁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8463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59E0B"/>
                </a:solidFill>
                <a:latin typeface="Microsoft YaHei"/>
                <a:ea typeface="Microsoft YaHei"/>
              </a:rPr>
              <a:t>仅已确认且非过期可导出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172A"/>
                </a:solidFill>
                <a:latin typeface="Microsoft YaHei"/>
                <a:ea typeface="Microsoft YaHei"/>
              </a:rPr>
              <a:t>Skill 体系：能力抽象层（必选项）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1371600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08/13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material-validation 材料校验 → 主控前置门禁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jd-decision-map JD 决策地图 → JobRequirementAnalyst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fact-retrieval / evidence-curation 事实检索与补证 → EvidenceCurator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trusted-rewrite 可信改写 → ResumeStrategist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delivery-gate 交付门禁 → QualityDeliveryGuardian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trace-observability / mock-evaluation 可观测与评测 → 全部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</a:rPr>
              <a:t>●  统一披露：输入输出 / 调用条件 / 依赖 / 失败处理 / 权限安全 / 复用价值（见材料 04）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172A"/>
                </a:solidFill>
                <a:latin typeface="Microsoft YaHei"/>
                <a:ea typeface="Microsoft YaHei"/>
              </a:rPr>
              <a:t>数据与可信机制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1371600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09/13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D9488"/>
                </a:solidFill>
                <a:latin typeface="Microsoft YaHei"/>
                <a:ea typeface="Microsoft YaHei"/>
              </a:rPr>
              <a:t>●  来源引用：JD 原子要求锚定原文 span；事实带原文引用；简历 bullet 关联 claimId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EA5E9"/>
                </a:solidFill>
                <a:latin typeface="Microsoft YaHei"/>
                <a:ea typeface="Microsoft YaHei"/>
              </a:rPr>
              <a:t>●  三级可信状态：候选 → 待复核 → 已确认；已确认才参与交付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F59E0B"/>
                </a:solidFill>
                <a:latin typeface="Microsoft YaHei"/>
                <a:ea typeface="Microsoft YaHei"/>
              </a:rPr>
              <a:t>●  过期传播：JD/材料/事实/风格变化后，下游结果置为已过期并锁定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F59E0B"/>
                </a:solidFill>
                <a:latin typeface="Microsoft YaHei"/>
                <a:ea typeface="Microsoft YaHei"/>
              </a:rPr>
              <a:t>●  人工审批：需求地图确认、证据确认、优化项采用、最终导出四道人工门禁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D9488"/>
                </a:solidFill>
                <a:latin typeface="Microsoft YaHei"/>
                <a:ea typeface="Microsoft YaHei"/>
              </a:rPr>
              <a:t>●  确定性评分：岗位准备度由 TypeScript 按优先级与证据强度计算，非模型自报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172A"/>
                </a:solidFill>
                <a:latin typeface="Microsoft YaHei"/>
                <a:ea typeface="Microsoft YaHei"/>
              </a:rPr>
              <a:t>工程与可观测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1371600" cy="64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10/13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结构化校验：Zod 请求与模型输出校验；OpenAI 严格 JSON Schema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●  资源控制：心跳、主动取消、2 分钟硬上限、调用次数预算、超时（60s/120s）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563EB"/>
                </a:solidFill>
                <a:latin typeface="Microsoft YaHei"/>
                <a:ea typeface="Microsoft YaHei"/>
              </a:rPr>
              <a:t>●  可观测：Prompt Registry + Studio Trace（promptId/runId/快照/耗时/失败）可回放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7C3AED"/>
                </a:solidFill>
                <a:latin typeface="Microsoft YaHei"/>
                <a:ea typeface="Microsoft YaHei"/>
              </a:rPr>
              <a:t>●  可复现：DirectLLM 主路径 + Mock 离线确定性路径，共用同一 Schema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D9488"/>
                </a:solidFill>
                <a:latin typeface="Microsoft YaHei"/>
                <a:ea typeface="Microsoft YaHei"/>
              </a:rPr>
              <a:t>●  测试与评测：Vitest 155 用例 + Playwright e2e + 合成评测集（schema/F1/召回/保持）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172A"/>
                </a:solidFill>
                <a:latin typeface="Microsoft YaHei"/>
                <a:ea typeface="Microsoft YaHei"/>
              </a:rPr>
              <a:t>当前 Demo：合成材料的可信闭环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1371600" cy="64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11/13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</a:rPr>
              <a:t>JD → 确认需求地图 → 匹配事实 → 优化 → 导出（合成数据，见 assets/screenshots/）</a:t>
            </a:r>
          </a:p>
        </p:txBody>
      </p:sp>
      <p:pic>
        <p:nvPicPr>
          <p:cNvPr id="7" name="Picture 6" descr="01-mater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8840"/>
            <a:ext cx="36576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7548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材料</a:t>
            </a:r>
          </a:p>
        </p:txBody>
      </p:sp>
      <p:pic>
        <p:nvPicPr>
          <p:cNvPr id="9" name="Picture 8" descr="02-requirement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148840"/>
            <a:ext cx="36576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34840" y="47548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需求地图确认</a:t>
            </a:r>
          </a:p>
        </p:txBody>
      </p:sp>
      <p:pic>
        <p:nvPicPr>
          <p:cNvPr id="11" name="Picture 10" descr="03-fact-ma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148840"/>
            <a:ext cx="3657600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0" y="47548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事实匹配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949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另含：最终简历 / 导出门禁 / Studio Trace / Mock 评测 截图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172A"/>
                </a:solidFill>
                <a:latin typeface="Microsoft YaHei"/>
                <a:ea typeface="Microsoft YaHei"/>
              </a:rPr>
              <a:t>安全、开放与合规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1371600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12/13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D9488"/>
                </a:solidFill>
                <a:latin typeface="Microsoft YaHei"/>
                <a:ea typeface="Microsoft YaHei"/>
              </a:rPr>
              <a:t>●  本地优先：简历/事实/Trace 存于浏览器本地（Zustand + IndexedDB），无服务端数据库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D9488"/>
                </a:solidFill>
                <a:latin typeface="Microsoft YaHei"/>
                <a:ea typeface="Microsoft YaHei"/>
              </a:rPr>
              <a:t>●  隐私：不采集不上传；演示与评测一律使用合成/示例数据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563EB"/>
                </a:solidFill>
                <a:latin typeface="Microsoft YaHei"/>
                <a:ea typeface="Microsoft YaHei"/>
              </a:rPr>
              <a:t>●  模型服务披露：用户自配 OpenAI 兼容服务；默认 Mock 可复现；API Key 不进仓库/备份/演示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F59E0B"/>
                </a:solidFill>
                <a:latin typeface="Microsoft YaHei"/>
                <a:ea typeface="Microsoft YaHei"/>
              </a:rPr>
              <a:t>●  MCP 边界：本阶段提供等价连接器契约，迁移仅需协议适配（见材料 05）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F59E0B"/>
                </a:solidFill>
                <a:latin typeface="Microsoft YaHei"/>
                <a:ea typeface="Microsoft YaHei"/>
              </a:rPr>
              <a:t>●  RAG 边界：以结构化事实 + 稳定 ID + 确定性筛选代替知识库 RAG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</a:rPr>
              <a:t>●  开源：仓库已公开；本阶段不新增协议；复赛前落地 LICENSE/依赖/部署/贡献规范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172A"/>
                </a:solidFill>
                <a:latin typeface="Microsoft YaHei"/>
                <a:ea typeface="Microsoft YaHei"/>
              </a:rPr>
              <a:t>复赛路线：从方案到可运行系统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1371600" cy="64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13/13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F46E5"/>
                </a:solidFill>
                <a:latin typeface="Microsoft YaHei"/>
                <a:ea typeface="Microsoft YaHei"/>
              </a:rPr>
              <a:t>●  实现 AgentTeams 运行时：主控 + 4 Agent 的可执行协同层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F46E5"/>
                </a:solidFill>
                <a:latin typeface="Microsoft YaHei"/>
                <a:ea typeface="Microsoft YaHei"/>
              </a:rPr>
              <a:t>●  Skill 包工程化：版本、发布、回滚、质量评估与开源分发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F46E5"/>
                </a:solidFill>
                <a:latin typeface="Microsoft YaHei"/>
                <a:ea typeface="Microsoft YaHei"/>
              </a:rPr>
              <a:t>●  可执行 Demo：完整场景链路 + 样例输入输出 + 日志/Trace/指标 + 异常处理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F46E5"/>
                </a:solidFill>
                <a:latin typeface="Microsoft YaHei"/>
                <a:ea typeface="Microsoft YaHei"/>
              </a:rPr>
              <a:t>●  回放评测：Golden/Badcase 数据集，对比不同版本效果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F46E5"/>
                </a:solidFill>
                <a:latin typeface="Microsoft YaHei"/>
                <a:ea typeface="Microsoft YaHei"/>
              </a:rPr>
              <a:t>●  公开工程材料：LICENSE、依赖清单、部署指南、贡献规范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Microsoft YaHei"/>
                <a:ea typeface="Microsoft YaHei"/>
              </a:rPr>
              <a:t>初赛：可信方案 + 证据；复赛：可运行、可验证、可审计、可持续演进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