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A7A6F"/>
                </a:solidFill>
                <a:latin typeface="Microsoft YaHei"/>
                <a:ea typeface="Microsoft YaHei"/>
              </a:rPr>
              <a:t>职途智策 · GOAI Agent Infra 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>
                <a:solidFill>
                  <a:srgbClr val="191919"/>
                </a:solidFill>
                <a:latin typeface="SimSun"/>
                <a:ea typeface="SimSun"/>
              </a:rPr>
              <a:t>职途智策 AgentTeam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A4A40"/>
                </a:solidFill>
                <a:latin typeface="Microsoft YaHei"/>
                <a:ea typeface="Microsoft YaHei"/>
              </a:rPr>
              <a:t>面向求职决策的可信多 Agent 协作系统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886200"/>
            <a:ext cx="2194560" cy="3657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A7A6F"/>
                </a:solidFill>
                <a:latin typeface="Microsoft YaHei"/>
                <a:ea typeface="Microsoft YaHei"/>
              </a:rPr>
              <a:t>参赛者：张英超 · 个人参赛 · 初赛 V0.1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95C3F"/>
                </a:solidFill>
                <a:latin typeface="Microsoft YaHei"/>
                <a:ea typeface="Microsoft YaHei"/>
              </a:rPr>
              <a:t>AgentTeams   Skill   可信门禁   可观测   可回放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场景：可信求职决策是普遍且真实的问题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02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核心问题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求职者的难点不是“简历不好看”，而是把零散经历变成可验证事实再做可信决策。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目标用户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求职者（校招/社招）、求职辅导者。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输入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JD 原文 + 原始简历 + 项目化经历事实。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输出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可信岗位准备度、定制优化简历、可审计投递交付。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062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95C3F"/>
                </a:solidFill>
                <a:latin typeface="Microsoft YaHei"/>
                <a:ea typeface="Microsoft YaHei"/>
              </a:rPr>
              <a:t>行业可复制性：任何“材料 → 决策 → 交付”的高可信场景（晋升、留学、招标）。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00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95C3F"/>
                </a:solidFill>
                <a:latin typeface="Microsoft YaHei"/>
                <a:ea typeface="Microsoft YaHei"/>
              </a:rPr>
              <a:t>真实价值：减少误读与虚构，把主观美化变为可追溯、可复现的决策闭环。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痛点：四个高频失真的来源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03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JD 误读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关键词堆砌、漏读优先级与否定条件，把推断当要求。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经历虚构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AI 改写无依据、成果无法溯源，量化数字随口编。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版本混乱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多岗位版本交叉污染，新旧材料混用，导出旧结果。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结果不可审计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评分靠模型自报，无法回放、无法复核。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方案总览：从材料到交付的可信闭环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04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210312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材料</a:t>
            </a:r>
          </a:p>
          <a:p>
            <a:pPr algn="ctr"/>
            <a:r>
              <a:rPr sz="800" b="0">
                <a:solidFill>
                  <a:srgbClr val="8A7A6F"/>
                </a:solidFill>
                <a:latin typeface="Microsoft YaHei"/>
                <a:ea typeface="Microsoft YaHei"/>
              </a:rPr>
              <a:t>岗位/JD/简历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2767" y="2331720"/>
            <a:ext cx="274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87087" y="210312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分析</a:t>
            </a:r>
          </a:p>
          <a:p>
            <a:pPr algn="ctr"/>
            <a:r>
              <a:rPr sz="800" b="0">
                <a:solidFill>
                  <a:srgbClr val="8A7A6F"/>
                </a:solidFill>
                <a:latin typeface="Microsoft YaHei"/>
                <a:ea typeface="Microsoft YaHei"/>
              </a:rPr>
              <a:t>决策地图·匹配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8687" y="2331720"/>
            <a:ext cx="274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210312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制作</a:t>
            </a:r>
          </a:p>
          <a:p>
            <a:pPr algn="ctr"/>
            <a:r>
              <a:rPr sz="800" b="0">
                <a:solidFill>
                  <a:srgbClr val="8A7A6F"/>
                </a:solidFill>
                <a:latin typeface="Microsoft YaHei"/>
                <a:ea typeface="Microsoft YaHei"/>
              </a:rPr>
              <a:t>优化+草稿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4607" y="2331720"/>
            <a:ext cx="274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78927" y="210312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交付</a:t>
            </a:r>
          </a:p>
          <a:p>
            <a:pPr algn="ctr"/>
            <a:r>
              <a:rPr sz="800" b="0">
                <a:solidFill>
                  <a:srgbClr val="8A7A6F"/>
                </a:solidFill>
                <a:latin typeface="Microsoft YaHei"/>
                <a:ea typeface="Microsoft YaHei"/>
              </a:rPr>
              <a:t>ATS门禁+导出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747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B95C3F"/>
                </a:solidFill>
                <a:latin typeface="Microsoft YaHei"/>
                <a:ea typeface="Microsoft YaHei"/>
              </a:rPr>
              <a:t>识别到 ≠ 可信：需求、事实、优化项、最终简历都有确认门禁。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4A40"/>
                </a:solidFill>
                <a:latin typeface="Microsoft YaHei"/>
                <a:ea typeface="Microsoft YaHei"/>
              </a:rPr>
              <a:t>—  事实库带原文引用与确认状态，全程可追溯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4A40"/>
                </a:solidFill>
                <a:latin typeface="Microsoft YaHei"/>
                <a:ea typeface="Microsoft YaHei"/>
              </a:rPr>
              <a:t>—  面试策略为辅助流程，不阻塞简历交付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AgentTeams 架构：分层 + 主控路由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05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0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250" b="1">
                <a:solidFill>
                  <a:srgbClr val="191919"/>
                </a:solidFill>
                <a:latin typeface="SimSun"/>
                <a:ea typeface="SimSun"/>
              </a:rPr>
              <a:t>入口层  </a:t>
            </a:r>
            <a:r>
              <a:rPr sz="1000" b="0">
                <a:solidFill>
                  <a:srgbClr val="5A4A40"/>
                </a:solidFill>
                <a:latin typeface="Microsoft YaHei"/>
                <a:ea typeface="Microsoft YaHei"/>
              </a:rPr>
              <a:t>岗位 / JD / 简历 / 证据 / 导出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13432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0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250" b="1">
                <a:solidFill>
                  <a:srgbClr val="191919"/>
                </a:solidFill>
                <a:latin typeface="SimSun"/>
                <a:ea typeface="SimSun"/>
              </a:rPr>
              <a:t>AgentTeams 编排层  </a:t>
            </a:r>
            <a:r>
              <a:rPr sz="1000" b="0">
                <a:solidFill>
                  <a:srgbClr val="5A4A40"/>
                </a:solidFill>
                <a:latin typeface="Microsoft YaHei"/>
                <a:ea typeface="Microsoft YaHei"/>
              </a:rPr>
              <a:t>主控：任务拆解 · 阶段路由 · 上下文编排 · 状态追踪 · 升级决策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18104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EBE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250" b="1">
                <a:solidFill>
                  <a:srgbClr val="191919"/>
                </a:solidFill>
                <a:latin typeface="SimSun"/>
                <a:ea typeface="SimSun"/>
              </a:rPr>
              <a:t>多 Agent 层  </a:t>
            </a:r>
            <a:r>
              <a:rPr sz="1000" b="0">
                <a:solidFill>
                  <a:srgbClr val="5A4A40"/>
                </a:solidFill>
                <a:latin typeface="Microsoft YaHei"/>
                <a:ea typeface="Microsoft YaHei"/>
              </a:rPr>
              <a:t>JobRequirementAnalyst · EvidenceCurator · ResumeStrategist · QualityDeliveryGuardian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22776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E7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250" b="1">
                <a:solidFill>
                  <a:srgbClr val="191919"/>
                </a:solidFill>
                <a:latin typeface="SimSun"/>
                <a:ea typeface="SimSun"/>
              </a:rPr>
              <a:t>Skill 能力层  </a:t>
            </a:r>
            <a:r>
              <a:rPr sz="1000" b="0">
                <a:solidFill>
                  <a:srgbClr val="5A4A40"/>
                </a:solidFill>
                <a:latin typeface="Microsoft YaHei"/>
                <a:ea typeface="Microsoft YaHei"/>
              </a:rPr>
              <a:t>材料校验 · JD 决策地图 · 事实检索 · 补证 · 可信改写 · 交付门禁 · Trace · 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27448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250" b="1">
                <a:solidFill>
                  <a:srgbClr val="191919"/>
                </a:solidFill>
                <a:latin typeface="SimSun"/>
                <a:ea typeface="SimSun"/>
              </a:rPr>
              <a:t>连接器契约层  </a:t>
            </a:r>
            <a:r>
              <a:rPr sz="1000" b="0">
                <a:solidFill>
                  <a:srgbClr val="5A4A40"/>
                </a:solidFill>
                <a:latin typeface="Microsoft YaHei"/>
                <a:ea typeface="Microsoft YaHei"/>
              </a:rPr>
              <a:t>DirectLLM / Mock / 导入解析 / 导出（MCP 等价契约）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5321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EA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/>
            <a:r>
              <a:rPr sz="1250" b="1">
                <a:solidFill>
                  <a:srgbClr val="191919"/>
                </a:solidFill>
                <a:latin typeface="SimSun"/>
                <a:ea typeface="SimSun"/>
              </a:rPr>
              <a:t>证据治理层  </a:t>
            </a:r>
            <a:r>
              <a:rPr sz="1000" b="0">
                <a:solidFill>
                  <a:srgbClr val="5A4A40"/>
                </a:solidFill>
                <a:latin typeface="Microsoft YaHei"/>
                <a:ea typeface="Microsoft YaHei"/>
              </a:rPr>
              <a:t>共享状态 + Studio Trace + Zod 校验 + 评测集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完整任务链路：一条可追溯闭环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06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6355" y="1920240"/>
            <a:ext cx="132588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JD 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42235" y="2148840"/>
            <a:ext cx="146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8539" y="1920240"/>
            <a:ext cx="132588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确认需求地图</a:t>
            </a:r>
          </a:p>
          <a:p>
            <a:pPr algn="ctr"/>
            <a:r>
              <a:rPr sz="800" b="0">
                <a:solidFill>
                  <a:srgbClr val="8A7A6F"/>
                </a:solidFill>
                <a:latin typeface="Microsoft YaHei"/>
                <a:ea typeface="Microsoft YaHei"/>
              </a:rPr>
              <a:t>人工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4419" y="2148840"/>
            <a:ext cx="146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0723" y="1920240"/>
            <a:ext cx="132588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事实匹配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6603" y="2148840"/>
            <a:ext cx="146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32907" y="1920240"/>
            <a:ext cx="132588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准备度/缺口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58787" y="2148840"/>
            <a:ext cx="146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5091" y="1920240"/>
            <a:ext cx="132588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定向补证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0971" y="2148840"/>
            <a:ext cx="146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77275" y="1920240"/>
            <a:ext cx="132588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优化制作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3155" y="2148840"/>
            <a:ext cx="1463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49459" y="1920240"/>
            <a:ext cx="132588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交付导出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566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A0663A"/>
                </a:solidFill>
                <a:latin typeface="Microsoft YaHei"/>
                <a:ea typeface="Microsoft YaHei"/>
              </a:rPr>
              <a:t>缺口 → 补证 → 重匹配 构成回流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4A40"/>
                </a:solidFill>
                <a:latin typeface="Microsoft YaHei"/>
                <a:ea typeface="Microsoft YaHei"/>
              </a:rPr>
              <a:t>—  依赖变化 → 结果置为过期，禁止导出旧结果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4A40"/>
                </a:solidFill>
                <a:latin typeface="Microsoft YaHei"/>
                <a:ea typeface="Microsoft YaHei"/>
              </a:rPr>
              <a:t>—  上下文传递：requirementId · claimId · traceId 贯穿引用链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Agent 身份与协作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07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solidFill>
            <a:srgbClr val="F0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91919"/>
                </a:solidFill>
                <a:latin typeface="Microsoft YaHei"/>
                <a:ea typeface="Microsoft YaHei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2763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91919"/>
                </a:solidFill>
                <a:latin typeface="Microsoft YaHei"/>
                <a:ea typeface="Microsoft YaHei"/>
              </a:rPr>
              <a:t>职责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62763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</a:rPr>
              <a:t>关键边界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40864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95C3F"/>
                </a:solidFill>
                <a:latin typeface="Microsoft YaHei"/>
                <a:ea typeface="Microsoft YaHei"/>
              </a:rPr>
              <a:t>JobRequirementAnalyst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40864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4A40"/>
                </a:solidFill>
                <a:latin typeface="Microsoft YaHei"/>
                <a:ea typeface="Microsoft YaHei"/>
              </a:rPr>
              <a:t>JD → 带原文锚点的需求地图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340864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0663A"/>
                </a:solidFill>
                <a:latin typeface="Microsoft YaHei"/>
                <a:ea typeface="Microsoft YaHei"/>
              </a:rPr>
              <a:t>产出为候选，须人工确认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54096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95C3F"/>
                </a:solidFill>
                <a:latin typeface="Microsoft YaHei"/>
                <a:ea typeface="Microsoft YaHei"/>
              </a:rPr>
              <a:t>EvidenceCurator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054096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4A40"/>
                </a:solidFill>
                <a:latin typeface="Microsoft YaHei"/>
                <a:ea typeface="Microsoft YaHei"/>
              </a:rPr>
              <a:t>事实检索 / 筛选 / 补证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05409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0663A"/>
                </a:solidFill>
                <a:latin typeface="Microsoft YaHei"/>
                <a:ea typeface="Microsoft YaHei"/>
              </a:rPr>
              <a:t>事实须逐条人工确认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67328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95C3F"/>
                </a:solidFill>
                <a:latin typeface="Microsoft YaHei"/>
                <a:ea typeface="Microsoft YaHei"/>
              </a:rPr>
              <a:t>ResumeStrategist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767328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4A40"/>
                </a:solidFill>
                <a:latin typeface="Microsoft YaHei"/>
                <a:ea typeface="Microsoft YaHei"/>
              </a:rPr>
              <a:t>仅基于已确认事实生成优化与草稿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76732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0663A"/>
                </a:solidFill>
                <a:latin typeface="Microsoft YaHei"/>
                <a:ea typeface="Microsoft YaHei"/>
              </a:rPr>
              <a:t>不引入未确认成果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8056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95C3F"/>
                </a:solidFill>
                <a:latin typeface="Microsoft YaHei"/>
                <a:ea typeface="Microsoft YaHei"/>
              </a:rPr>
              <a:t>QualityDeliveryGuardian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4805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4A40"/>
                </a:solidFill>
                <a:latin typeface="Microsoft YaHei"/>
                <a:ea typeface="Microsoft YaHei"/>
              </a:rPr>
              <a:t>Schema/引用/过期/ATS/导出门禁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8056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0663A"/>
                </a:solidFill>
                <a:latin typeface="Microsoft YaHei"/>
                <a:ea typeface="Microsoft YaHei"/>
              </a:rPr>
              <a:t>仅已确认且非过期可导出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A7A6F"/>
                </a:solidFill>
                <a:latin typeface="Microsoft YaHei"/>
                <a:ea typeface="Microsoft YaHei"/>
              </a:rPr>
              <a:t>主控只做路由与编排，不直接写简历/事实/导出；高风险写入与最终导出上抛人工确认。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Skill 体系：能力抽象层（必选项）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08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material-validation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材料校验 → 主控前置门禁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jd-decision-map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JD 决策地图 → 需求分析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fact-retrieval / evidence-curation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事实检索与补证 → 事实策展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trusted-rewrite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可信改写 → 简历策略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3484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" y="451713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delivery-gate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交付门禁 → 质量守护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43484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451713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trace-observability / mock-evaluation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可观测与评测 → 全部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0663A"/>
                </a:solidFill>
                <a:latin typeface="Microsoft YaHei"/>
                <a:ea typeface="Microsoft YaHei"/>
              </a:rPr>
              <a:t>统一披露：输入输出 / 调用条件 / 依赖 / 失败处理 / 权限安全 / 复用价值（见材料 04）。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数据与可信机制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09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1691640"/>
            <a:ext cx="164592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候选</a:t>
            </a:r>
          </a:p>
          <a:p>
            <a:pPr algn="ctr"/>
            <a:r>
              <a:rPr sz="800" b="0">
                <a:solidFill>
                  <a:srgbClr val="8A7A6F"/>
                </a:solidFill>
                <a:latin typeface="Microsoft YaHei"/>
                <a:ea typeface="Microsoft YaHei"/>
              </a:rPr>
              <a:t>AI 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4247" y="192024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72887" y="1691640"/>
            <a:ext cx="164592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待复核</a:t>
            </a:r>
          </a:p>
          <a:p>
            <a:pPr algn="ctr"/>
            <a:r>
              <a:rPr sz="800" b="0">
                <a:solidFill>
                  <a:srgbClr val="8A7A6F"/>
                </a:solidFill>
                <a:latin typeface="Microsoft YaHei"/>
                <a:ea typeface="Microsoft YaHei"/>
              </a:rPr>
              <a:t>人工核对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8807" y="192024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CC785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47" y="1691640"/>
            <a:ext cx="1645920" cy="82296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D9B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91919"/>
                </a:solidFill>
                <a:latin typeface="Microsoft YaHei"/>
                <a:ea typeface="Microsoft YaHei"/>
              </a:rPr>
              <a:t>已确认</a:t>
            </a:r>
          </a:p>
          <a:p>
            <a:pPr algn="ctr"/>
            <a:r>
              <a:rPr sz="800" b="0">
                <a:solidFill>
                  <a:srgbClr val="8A7A6F"/>
                </a:solidFill>
                <a:latin typeface="Microsoft YaHei"/>
                <a:ea typeface="Microsoft YaHei"/>
              </a:rPr>
              <a:t>参与交付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31912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过期传播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依赖变化后下游结果置为已过期并锁定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1089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31912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四道人工门禁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需求确认·证据确认·优化采用·最终导出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5720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46542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确定性评分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准备度由 TypeScript 按证据强度计算，非模型自报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5720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46542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全程可审计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引用链 + Trace 可回放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工程与可观测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10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结构化校验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Zod 请求与输出校验；OpenAI 严格 JSON Schema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资源控制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心跳·取消·2分钟硬上限·调用预算·超时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可观测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Prompt Registry + Studio Trace 可回放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可复现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DirectLLM 主路径 + Mock 离线确定性路径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95C3F"/>
                </a:solidFill>
                <a:latin typeface="Microsoft YaHei"/>
                <a:ea typeface="Microsoft YaHei"/>
              </a:rPr>
              <a:t>测试与评测：Vitest 155 用例 + Playwright e2e + 合成评测集（schema/F1/召回/保持）。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当前 Demo：合成材料的可信闭环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11 / 13</a:t>
            </a:r>
          </a:p>
        </p:txBody>
      </p:sp>
      <p:pic>
        <p:nvPicPr>
          <p:cNvPr id="7" name="Picture 6" descr="01-mater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36576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526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A7A6F"/>
                </a:solidFill>
                <a:latin typeface="Microsoft YaHei"/>
                <a:ea typeface="Microsoft YaHei"/>
              </a:rPr>
              <a:t>材料</a:t>
            </a:r>
          </a:p>
        </p:txBody>
      </p:sp>
      <p:pic>
        <p:nvPicPr>
          <p:cNvPr id="9" name="Picture 8" descr="02-requirement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691640"/>
            <a:ext cx="36576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0" y="4526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A7A6F"/>
                </a:solidFill>
                <a:latin typeface="Microsoft YaHei"/>
                <a:ea typeface="Microsoft YaHei"/>
              </a:rPr>
              <a:t>需求地图确认</a:t>
            </a:r>
          </a:p>
        </p:txBody>
      </p:sp>
      <p:pic>
        <p:nvPicPr>
          <p:cNvPr id="11" name="Picture 10" descr="03-fact-ma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691640"/>
            <a:ext cx="3657600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92440" y="4526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A7A6F"/>
                </a:solidFill>
                <a:latin typeface="Microsoft YaHei"/>
                <a:ea typeface="Microsoft YaHei"/>
              </a:rPr>
              <a:t>事实匹配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1663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4A40"/>
                </a:solidFill>
                <a:latin typeface="Microsoft YaHei"/>
                <a:ea typeface="Microsoft YaHei"/>
              </a:rPr>
              <a:t>JD → 确认需求地图 → 匹配事实 → 优化 → 导出（合成数据，另含最终简历/导出门禁/Trace/评测截图）。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安全、开放与合规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12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本地优先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简历/事实/Trace 存浏览器本地，无服务端数据库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159105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隐私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不采集不上传；演示评测用合成数据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模型服务披露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用户自配兼容服务；Mock 可复现；API Key 不外泄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971800"/>
            <a:ext cx="5394960" cy="123444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3054096"/>
            <a:ext cx="5102352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91919"/>
                </a:solidFill>
                <a:latin typeface="SimSun"/>
                <a:ea typeface="SimSun"/>
              </a:rPr>
              <a:t>开源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仓库已公开；复赛前落地 LICENSE/依赖/部署/贡献规范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4A40"/>
                </a:solidFill>
                <a:latin typeface="Microsoft YaHei"/>
                <a:ea typeface="Microsoft YaHei"/>
              </a:rPr>
              <a:t>MCP：本阶段提供等价连接器契约，迁移仅需协议适配（见材料 05）。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00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4A40"/>
                </a:solidFill>
                <a:latin typeface="Microsoft YaHei"/>
                <a:ea typeface="Microsoft YaHei"/>
              </a:rPr>
              <a:t>RAG：以结构化事实 + 稳定 ID + 确定性筛选代替知识库 RAG。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C785C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91919"/>
                </a:solidFill>
                <a:latin typeface="SimSun"/>
                <a:ea typeface="SimSun"/>
              </a:rPr>
              <a:t>  复赛路线：从方案到可运行系统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457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0" y="411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8A7A6F"/>
                </a:solidFill>
                <a:latin typeface="Microsoft YaHei"/>
                <a:ea typeface="Microsoft YaHei"/>
              </a:rPr>
              <a:t>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B95C3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4320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AgentTeams 运行时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主控 + 4 Agent 协同层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B95C3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0632" y="274320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Skill 包工程化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版本/发布/回滚/评估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38344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38344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B95C3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8344" y="274320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可执行 Demo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链路 + 日志/Trace/指标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6056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06056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B95C3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6056" y="274320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回放评测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Golden/Badcase 数据集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73768" y="2103120"/>
            <a:ext cx="2103120" cy="2103120"/>
          </a:xfrm>
          <a:prstGeom prst="roundRect">
            <a:avLst>
              <a:gd name="adj" fmla="val 8000"/>
            </a:avLst>
          </a:prstGeom>
          <a:solidFill>
            <a:srgbClr val="FDFBF7"/>
          </a:solidFill>
          <a:ln w="15240">
            <a:solidFill>
              <a:srgbClr val="E8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3768" y="2240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B95C3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73768" y="2743200"/>
            <a:ext cx="2103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公开工程材料</a:t>
            </a:r>
          </a:p>
          <a:p>
            <a:pPr algn="ctr">
              <a:spcAft>
                <a:spcPts val="400"/>
              </a:spcAft>
            </a:pPr>
            <a:r>
              <a:rPr sz="1050" b="0">
                <a:solidFill>
                  <a:srgbClr val="5A4A40"/>
                </a:solidFill>
                <a:latin typeface="Microsoft YaHei"/>
                <a:ea typeface="Microsoft YaHei"/>
              </a:rPr>
              <a:t>LICENSE/依赖/部署规范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4924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B95C3F"/>
                </a:solidFill>
                <a:latin typeface="Microsoft YaHei"/>
                <a:ea typeface="Microsoft YaHei"/>
              </a:rPr>
              <a:t>初赛：可信方案 + 证据；复赛：可运行、可验证、可审计、可持续演进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